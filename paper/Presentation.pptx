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57" r:id="rId4"/>
    <p:sldId id="262" r:id="rId5"/>
    <p:sldId id="259" r:id="rId6"/>
    <p:sldId id="260" r:id="rId7"/>
    <p:sldId id="261" r:id="rId8"/>
    <p:sldId id="263" r:id="rId9"/>
    <p:sldId id="264" r:id="rId10"/>
  </p:sldIdLst>
  <p:sldSz cx="12192000" cy="6858000"/>
  <p:notesSz cx="6858000" cy="9144000"/>
  <p:custDataLst>
    <p:tags r:id="rId1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5454"/>
    <a:srgbClr val="172A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81" autoAdjust="0"/>
    <p:restoredTop sz="94660"/>
  </p:normalViewPr>
  <p:slideViewPr>
    <p:cSldViewPr snapToGrid="0" showGuides="1">
      <p:cViewPr>
        <p:scale>
          <a:sx n="126" d="100"/>
          <a:sy n="126" d="100"/>
        </p:scale>
        <p:origin x="5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588EEEA-839F-4E1C-B807-2AD8FBF29C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8ADC749-8082-4BBA-8DF4-648D74AAA03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47878-DB08-43D0-A07C-181CBE29E9FA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D6E8CD2-1BC1-4206-894C-6187DEBEB6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541B70-DA70-4B52-AC41-12C18130B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6AE0A9-AE6C-4599-A1DB-87A1DC54F88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7600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3E0D3-9816-4F47-B5F7-C54ADEE9650C}" type="datetimeFigureOut">
              <a:rPr lang="de-DE" smtClean="0"/>
              <a:t>07.03.26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A8B70-108F-48AE-A600-F36AADA0D0E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6059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5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6.bin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7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92972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16" imgH="416" progId="TCLayout.ActiveDocument.1">
                  <p:embed/>
                </p:oleObj>
              </mc:Choice>
              <mc:Fallback>
                <p:oleObj name="think-cell Folie" r:id="rId4" imgW="416" imgH="416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/>
            <a:endParaRPr lang="de-DE" sz="3600" b="1" i="1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A5C79-5208-006E-E390-DE33A1520A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4910" y="1122363"/>
            <a:ext cx="9743090" cy="2387600"/>
          </a:xfrm>
        </p:spPr>
        <p:txBody>
          <a:bodyPr bIns="182880" anchor="b"/>
          <a:lstStyle>
            <a:lvl1pPr algn="l">
              <a:defRPr sz="3600" b="1">
                <a:solidFill>
                  <a:srgbClr val="00274C"/>
                </a:solidFill>
              </a:defRPr>
            </a:lvl1pPr>
          </a:lstStyle>
          <a:p>
            <a:r>
              <a:rPr lang="de-DE" dirty="0"/>
              <a:t>Headline – Calibri </a:t>
            </a:r>
            <a:r>
              <a:rPr lang="de-DE" dirty="0" err="1"/>
              <a:t>Bold</a:t>
            </a:r>
            <a:r>
              <a:rPr lang="de-DE" dirty="0"/>
              <a:t> + Italic, </a:t>
            </a:r>
            <a:br>
              <a:rPr lang="de-DE" dirty="0"/>
            </a:br>
            <a:r>
              <a:rPr lang="de-DE" dirty="0"/>
              <a:t>36 </a:t>
            </a:r>
            <a:r>
              <a:rPr lang="de-DE" dirty="0" err="1"/>
              <a:t>pt</a:t>
            </a:r>
            <a:r>
              <a:rPr lang="de-DE" dirty="0"/>
              <a:t>, schwarz, zweizeilig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E3E1F-2C02-8D9E-3E71-85E9C10236B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24910" y="3694114"/>
            <a:ext cx="9743090" cy="1224727"/>
          </a:xfrm>
        </p:spPr>
        <p:txBody>
          <a:bodyPr tIns="182880"/>
          <a:lstStyle>
            <a:lvl1pPr marL="0" indent="0" algn="l">
              <a:buNone/>
              <a:defRPr sz="1600">
                <a:solidFill>
                  <a:srgbClr val="54545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Unterzeile – Calibri </a:t>
            </a:r>
            <a:r>
              <a:rPr lang="de-DE" dirty="0" err="1"/>
              <a:t>Bold</a:t>
            </a:r>
            <a:r>
              <a:rPr lang="de-DE" dirty="0"/>
              <a:t>, 16 </a:t>
            </a:r>
            <a:r>
              <a:rPr lang="de-DE" dirty="0" err="1"/>
              <a:t>pt</a:t>
            </a:r>
            <a:r>
              <a:rPr lang="de-DE" dirty="0"/>
              <a:t>, schwarz, </a:t>
            </a:r>
            <a:br>
              <a:rPr lang="de-DE" dirty="0"/>
            </a:br>
            <a:r>
              <a:rPr lang="de-DE" dirty="0"/>
              <a:t>zweizeilig</a:t>
            </a:r>
          </a:p>
        </p:txBody>
      </p:sp>
      <p:sp>
        <p:nvSpPr>
          <p:cNvPr id="4" name="Textplatzhalter 17">
            <a:extLst>
              <a:ext uri="{FF2B5EF4-FFF2-40B4-BE49-F238E27FC236}">
                <a16:creationId xmlns:a16="http://schemas.microsoft.com/office/drawing/2014/main" id="{C4EA5B2E-194B-A502-A7FF-7DC4539DED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4910" y="5173855"/>
            <a:ext cx="3280710" cy="252000"/>
          </a:xfrm>
        </p:spPr>
        <p:txBody>
          <a:bodyPr wrap="square">
            <a:spAutoFit/>
          </a:bodyPr>
          <a:lstStyle>
            <a:lvl1pPr marL="0" indent="0">
              <a:buNone/>
              <a:defRPr>
                <a:solidFill>
                  <a:srgbClr val="545454"/>
                </a:solidFill>
              </a:defRPr>
            </a:lvl1pPr>
          </a:lstStyle>
          <a:p>
            <a:pPr lvl="0"/>
            <a:r>
              <a:rPr lang="de-DE" dirty="0"/>
              <a:t>Ort, Datum</a:t>
            </a:r>
          </a:p>
        </p:txBody>
      </p:sp>
      <p:cxnSp>
        <p:nvCxnSpPr>
          <p:cNvPr id="5" name="Straight Connector 8">
            <a:extLst>
              <a:ext uri="{FF2B5EF4-FFF2-40B4-BE49-F238E27FC236}">
                <a16:creationId xmlns:a16="http://schemas.microsoft.com/office/drawing/2014/main" id="{99269E77-A693-4064-357B-1AD4F07F8589}"/>
              </a:ext>
            </a:extLst>
          </p:cNvPr>
          <p:cNvCxnSpPr/>
          <p:nvPr userDrawn="1"/>
        </p:nvCxnSpPr>
        <p:spPr>
          <a:xfrm>
            <a:off x="0" y="3602038"/>
            <a:ext cx="12192000" cy="0"/>
          </a:xfrm>
          <a:prstGeom prst="line">
            <a:avLst/>
          </a:prstGeom>
          <a:ln>
            <a:solidFill>
              <a:srgbClr val="FDB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532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UCSD-BrandRefresh-PPTBackgrounds-v4_Blues-NotchTop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" b="26"/>
          <a:stretch/>
        </p:blipFill>
        <p:spPr>
          <a:xfrm>
            <a:off x="2467" y="0"/>
            <a:ext cx="1218706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705300" y="5929933"/>
            <a:ext cx="10791376" cy="31848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350829">
              <a:lnSpc>
                <a:spcPct val="100000"/>
              </a:lnSpc>
              <a:buNone/>
              <a:defRPr sz="1467">
                <a:solidFill>
                  <a:schemeClr val="bg2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1pPr>
          </a:lstStyle>
          <a:p>
            <a:r>
              <a:rPr dirty="0"/>
              <a:t>Author and Date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05297" y="3710215"/>
            <a:ext cx="10791378" cy="9525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412740">
              <a:lnSpc>
                <a:spcPct val="100000"/>
              </a:lnSpc>
              <a:buNone/>
              <a:defRPr sz="2400" b="1" i="0">
                <a:solidFill>
                  <a:schemeClr val="bg1"/>
                </a:solidFill>
                <a:latin typeface="Source Sans 3 SemiBold" panose="020B0303030403020204" pitchFamily="34" charset="0"/>
                <a:ea typeface="Source Sans 3 SemiBold" panose="020B0303030403020204" pitchFamily="34" charset="0"/>
                <a:cs typeface="Source Sans 3 SemiBold" panose="020B0303030403020204" pitchFamily="34" charset="0"/>
                <a:sym typeface="Source Sans 3 Regular"/>
              </a:defRPr>
            </a:lvl1pPr>
            <a:lvl2pPr marL="304792" indent="0" algn="l" defTabSz="412740">
              <a:lnSpc>
                <a:spcPct val="100000"/>
              </a:lnSpc>
              <a:buNone/>
              <a:defRPr sz="2500">
                <a:solidFill>
                  <a:schemeClr val="bg1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2pPr>
            <a:lvl3pPr marL="609585" indent="0" algn="l" defTabSz="412740">
              <a:lnSpc>
                <a:spcPct val="100000"/>
              </a:lnSpc>
              <a:buNone/>
              <a:defRPr sz="2500">
                <a:latin typeface="Source Sans 3 Regular"/>
                <a:ea typeface="Source Sans 3 Regular"/>
                <a:cs typeface="Source Sans 3 Regular"/>
                <a:sym typeface="Source Sans 3 Regular"/>
              </a:defRPr>
            </a:lvl3pPr>
            <a:lvl4pPr marL="914377" indent="0" algn="l" defTabSz="412740">
              <a:lnSpc>
                <a:spcPct val="100000"/>
              </a:lnSpc>
              <a:buNone/>
              <a:defRPr sz="2500">
                <a:latin typeface="Source Sans 3 Regular"/>
                <a:ea typeface="Source Sans 3 Regular"/>
                <a:cs typeface="Source Sans 3 Regular"/>
                <a:sym typeface="Source Sans 3 Regular"/>
              </a:defRPr>
            </a:lvl4pPr>
            <a:lvl5pPr marL="1219170" indent="0" algn="l" defTabSz="412740">
              <a:lnSpc>
                <a:spcPct val="100000"/>
              </a:lnSpc>
              <a:buNone/>
              <a:defRPr sz="2500">
                <a:solidFill>
                  <a:schemeClr val="bg1"/>
                </a:solidFill>
                <a:latin typeface="Source Sans 3 Regular"/>
                <a:ea typeface="Source Sans 3 Regular"/>
                <a:cs typeface="Source Sans 3 Regular"/>
                <a:sym typeface="Source Sans 3 Regular"/>
              </a:defRPr>
            </a:lvl5pPr>
          </a:lstStyle>
          <a:p>
            <a:r>
              <a:rPr dirty="0"/>
              <a:t>Presentation Subtitl</a:t>
            </a:r>
            <a:r>
              <a:rPr lang="en-US" dirty="0"/>
              <a:t>e</a:t>
            </a:r>
            <a:endParaRPr dirty="0"/>
          </a:p>
        </p:txBody>
      </p:sp>
      <p:sp>
        <p:nvSpPr>
          <p:cNvPr id="15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705298" y="1409700"/>
            <a:ext cx="10791377" cy="228258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>
              <a:defRPr sz="6933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764414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CSD-BrandRefresh-PPTBackgrounds-v4_Blues-NotchTopBottom.png">
            <a:extLst>
              <a:ext uri="{FF2B5EF4-FFF2-40B4-BE49-F238E27FC236}">
                <a16:creationId xmlns:a16="http://schemas.microsoft.com/office/drawing/2014/main" id="{56B6FDD5-AE89-624D-F0AB-7B1A78B4479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"/>
            <a:ext cx="12204161" cy="6867619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04327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416" imgH="416" progId="TCLayout.ActiveDocument.1">
                  <p:embed/>
                </p:oleObj>
              </mc:Choice>
              <mc:Fallback>
                <p:oleObj name="think-cell Folie" r:id="rId5" imgW="416" imgH="416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de-DE" sz="2400" b="1" i="1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C97C13-DEBB-3E42-8F30-B15B569C2016}" type="datetime1">
              <a:rPr lang="de-DE" smtClean="0"/>
              <a:t>08.03.26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4A18DF9-8FF6-4BA5-BC52-5FB4772E2292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Textplatzhalt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95324" y="1314953"/>
            <a:ext cx="8632826" cy="735756"/>
          </a:xfrm>
        </p:spPr>
        <p:txBody>
          <a:bodyPr wrap="square" tIns="180000">
            <a:spAutoFit/>
          </a:bodyPr>
          <a:lstStyle>
            <a:lvl1pPr marL="0" indent="0">
              <a:buNone/>
              <a:defRPr sz="3600" b="1" i="1"/>
            </a:lvl1pPr>
          </a:lstStyle>
          <a:p>
            <a:pPr lvl="0"/>
            <a:r>
              <a:rPr lang="de-DE" dirty="0" err="1"/>
              <a:t>Section</a:t>
            </a:r>
            <a:r>
              <a:rPr lang="de-DE" dirty="0"/>
              <a:t> Title</a:t>
            </a:r>
          </a:p>
        </p:txBody>
      </p:sp>
      <p:grpSp>
        <p:nvGrpSpPr>
          <p:cNvPr id="20" name="Gruppieren 19"/>
          <p:cNvGrpSpPr/>
          <p:nvPr userDrawn="1"/>
        </p:nvGrpSpPr>
        <p:grpSpPr>
          <a:xfrm>
            <a:off x="696649" y="6867625"/>
            <a:ext cx="10803834" cy="414000"/>
            <a:chOff x="696649" y="-304800"/>
            <a:chExt cx="10803834" cy="7298267"/>
          </a:xfrm>
        </p:grpSpPr>
        <p:cxnSp>
          <p:nvCxnSpPr>
            <p:cNvPr id="21" name="Gerader Verbinder 20"/>
            <p:cNvCxnSpPr/>
            <p:nvPr userDrawn="1"/>
          </p:nvCxnSpPr>
          <p:spPr>
            <a:xfrm>
              <a:off x="696649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/>
            <p:cNvCxnSpPr/>
            <p:nvPr userDrawn="1"/>
          </p:nvCxnSpPr>
          <p:spPr>
            <a:xfrm>
              <a:off x="11500483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pieren 22"/>
          <p:cNvGrpSpPr/>
          <p:nvPr userDrawn="1"/>
        </p:nvGrpSpPr>
        <p:grpSpPr>
          <a:xfrm>
            <a:off x="-442761" y="196265"/>
            <a:ext cx="413886" cy="6481459"/>
            <a:chOff x="-442761" y="196265"/>
            <a:chExt cx="413886" cy="6481459"/>
          </a:xfrm>
        </p:grpSpPr>
        <p:cxnSp>
          <p:nvCxnSpPr>
            <p:cNvPr id="24" name="Gerader Verbinder 23"/>
            <p:cNvCxnSpPr/>
            <p:nvPr userDrawn="1"/>
          </p:nvCxnSpPr>
          <p:spPr>
            <a:xfrm>
              <a:off x="-442761" y="196265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/>
            <p:cNvCxnSpPr/>
            <p:nvPr userDrawn="1"/>
          </p:nvCxnSpPr>
          <p:spPr>
            <a:xfrm>
              <a:off x="-442761" y="966334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/>
            <p:cNvCxnSpPr/>
            <p:nvPr userDrawn="1"/>
          </p:nvCxnSpPr>
          <p:spPr>
            <a:xfrm>
              <a:off x="-442761" y="1273597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/>
            <p:cNvCxnSpPr/>
            <p:nvPr userDrawn="1"/>
          </p:nvCxnSpPr>
          <p:spPr>
            <a:xfrm>
              <a:off x="-442761" y="6308725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/>
            <p:cNvCxnSpPr/>
            <p:nvPr userDrawn="1"/>
          </p:nvCxnSpPr>
          <p:spPr>
            <a:xfrm>
              <a:off x="-442761" y="6677724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/>
            <p:cNvCxnSpPr/>
            <p:nvPr userDrawn="1"/>
          </p:nvCxnSpPr>
          <p:spPr>
            <a:xfrm>
              <a:off x="-442761" y="1633261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pieren 29"/>
          <p:cNvGrpSpPr/>
          <p:nvPr userDrawn="1"/>
        </p:nvGrpSpPr>
        <p:grpSpPr>
          <a:xfrm>
            <a:off x="12211250" y="196265"/>
            <a:ext cx="413886" cy="6481459"/>
            <a:chOff x="-728133" y="196265"/>
            <a:chExt cx="13140266" cy="6481459"/>
          </a:xfrm>
        </p:grpSpPr>
        <p:cxnSp>
          <p:nvCxnSpPr>
            <p:cNvPr id="31" name="Gerader Verbinder 30"/>
            <p:cNvCxnSpPr/>
            <p:nvPr userDrawn="1"/>
          </p:nvCxnSpPr>
          <p:spPr>
            <a:xfrm>
              <a:off x="-728133" y="196265"/>
              <a:ext cx="1314026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/>
            <p:cNvCxnSpPr/>
            <p:nvPr userDrawn="1"/>
          </p:nvCxnSpPr>
          <p:spPr>
            <a:xfrm>
              <a:off x="-728133" y="966334"/>
              <a:ext cx="1314026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/>
            <p:cNvCxnSpPr/>
            <p:nvPr userDrawn="1"/>
          </p:nvCxnSpPr>
          <p:spPr>
            <a:xfrm>
              <a:off x="-728133" y="1273597"/>
              <a:ext cx="1314026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Gerader Verbinder 33"/>
            <p:cNvCxnSpPr/>
            <p:nvPr userDrawn="1"/>
          </p:nvCxnSpPr>
          <p:spPr>
            <a:xfrm>
              <a:off x="-728133" y="6308725"/>
              <a:ext cx="1314026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/>
            <p:cNvCxnSpPr/>
            <p:nvPr userDrawn="1"/>
          </p:nvCxnSpPr>
          <p:spPr>
            <a:xfrm>
              <a:off x="-728133" y="6677724"/>
              <a:ext cx="1314026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/>
            <p:cNvCxnSpPr/>
            <p:nvPr userDrawn="1"/>
          </p:nvCxnSpPr>
          <p:spPr>
            <a:xfrm>
              <a:off x="-728133" y="1633261"/>
              <a:ext cx="1314026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uppieren 36"/>
          <p:cNvGrpSpPr/>
          <p:nvPr userDrawn="1"/>
        </p:nvGrpSpPr>
        <p:grpSpPr>
          <a:xfrm>
            <a:off x="696649" y="-442875"/>
            <a:ext cx="10803834" cy="414000"/>
            <a:chOff x="696649" y="-304800"/>
            <a:chExt cx="10803834" cy="7298267"/>
          </a:xfrm>
        </p:grpSpPr>
        <p:cxnSp>
          <p:nvCxnSpPr>
            <p:cNvPr id="38" name="Gerader Verbinder 37"/>
            <p:cNvCxnSpPr/>
            <p:nvPr userDrawn="1"/>
          </p:nvCxnSpPr>
          <p:spPr>
            <a:xfrm>
              <a:off x="696649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r Verbinder 38"/>
            <p:cNvCxnSpPr/>
            <p:nvPr userDrawn="1"/>
          </p:nvCxnSpPr>
          <p:spPr>
            <a:xfrm>
              <a:off x="11500483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6451599" y="6534187"/>
            <a:ext cx="4018011" cy="167076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 b="1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8486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94A7BC-D916-FABC-76D8-28C22702B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691"/>
          <a:stretch/>
        </p:blipFill>
        <p:spPr>
          <a:xfrm>
            <a:off x="2467" y="6290733"/>
            <a:ext cx="12192000" cy="57004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CFFFE-B078-84CA-5C80-77628CB3C7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Haehn (2026), The Causal Effect of Special Elections on Media Internal Pluralism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43885-EDE4-8B30-680E-AE03AAAE75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0182D5C-5622-0748-8D9A-CE71C49FA208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38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609601" y="2029885"/>
            <a:ext cx="10972799" cy="23241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>
              <a:defRPr sz="6400" b="1" i="0">
                <a:solidFill>
                  <a:srgbClr val="FFFFF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9701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Standard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48FAB1-63A6-4CBE-8C1A-B2016587F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5796829-FD49-4B2A-9CC3-CDC3E22E7D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099906" y="6521839"/>
            <a:ext cx="3072229" cy="158321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CF6E16-EDA3-45CD-B435-3D8E6D060B1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1137602" y="6578152"/>
            <a:ext cx="359073" cy="12311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97DBEAC-CA8C-634A-BC4A-BCD3B1BA653A}" type="datetime1">
              <a:rPr lang="de-DE" smtClean="0"/>
              <a:t>08.03.26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794ED2-AD28-4277-BB7D-CF0F68E5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8DF9-8FF6-4BA5-BC52-5FB4772E2292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10">
            <a:extLst>
              <a:ext uri="{FF2B5EF4-FFF2-40B4-BE49-F238E27FC236}">
                <a16:creationId xmlns:a16="http://schemas.microsoft.com/office/drawing/2014/main" id="{2BCA9ED1-B4C0-44F9-89EE-30A783BCDB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3211" y="1089964"/>
            <a:ext cx="10808493" cy="252000"/>
          </a:xfrm>
        </p:spPr>
        <p:txBody>
          <a:bodyPr wrap="square">
            <a:spAutoFit/>
          </a:bodyPr>
          <a:lstStyle>
            <a:lvl1pPr marL="0" indent="0">
              <a:buNone/>
              <a:defRPr i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969CBC91-B42C-47F6-995A-CA84E0ACFF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3211" y="6541661"/>
            <a:ext cx="5044808" cy="138499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Foot </a:t>
            </a:r>
            <a:r>
              <a:rPr lang="de-DE" dirty="0" err="1"/>
              <a:t>note</a:t>
            </a:r>
            <a:r>
              <a:rPr lang="de-DE" dirty="0"/>
              <a:t> / Source</a:t>
            </a:r>
          </a:p>
        </p:txBody>
      </p:sp>
    </p:spTree>
    <p:extLst>
      <p:ext uri="{BB962C8B-B14F-4D97-AF65-F5344CB8AC3E}">
        <p14:creationId xmlns:p14="http://schemas.microsoft.com/office/powerpoint/2010/main" val="225735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ein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5535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16" imgH="416" progId="TCLayout.ActiveDocument.1">
                  <p:embed/>
                </p:oleObj>
              </mc:Choice>
              <mc:Fallback>
                <p:oleObj name="think-cell Folie" r:id="rId4" imgW="416" imgH="416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de-DE" sz="2400" b="1" i="1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99" y="1628800"/>
            <a:ext cx="10801201" cy="4680521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11137602" y="6578152"/>
            <a:ext cx="359073" cy="12311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13664E0-F569-A447-BBEC-304C3B2920A9}" type="datetime1">
              <a:rPr lang="de-DE" smtClean="0"/>
              <a:t>08.03.26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8DF9-8FF6-4BA5-BC52-5FB4772E2292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693211" y="1089964"/>
            <a:ext cx="10808493" cy="252000"/>
          </a:xfrm>
        </p:spPr>
        <p:txBody>
          <a:bodyPr wrap="square">
            <a:spAutoFit/>
          </a:bodyPr>
          <a:lstStyle>
            <a:lvl1pPr marL="0" indent="0">
              <a:buNone/>
              <a:defRPr i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itel 11">
            <a:extLst>
              <a:ext uri="{FF2B5EF4-FFF2-40B4-BE49-F238E27FC236}">
                <a16:creationId xmlns:a16="http://schemas.microsoft.com/office/drawing/2014/main" id="{54D46028-3F67-4C8D-859B-A947BDE88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Fußzeilenplatzhalter 2">
            <a:extLst>
              <a:ext uri="{FF2B5EF4-FFF2-40B4-BE49-F238E27FC236}">
                <a16:creationId xmlns:a16="http://schemas.microsoft.com/office/drawing/2014/main" id="{CD455168-28E0-3625-AF5A-C31DED4F827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9906" y="6521839"/>
            <a:ext cx="3072229" cy="158321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5" name="Textplatzhalter 16">
            <a:extLst>
              <a:ext uri="{FF2B5EF4-FFF2-40B4-BE49-F238E27FC236}">
                <a16:creationId xmlns:a16="http://schemas.microsoft.com/office/drawing/2014/main" id="{FA408696-3FA6-37E2-5230-8BC6A89466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211" y="6541661"/>
            <a:ext cx="5044808" cy="138499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Foot </a:t>
            </a:r>
            <a:r>
              <a:rPr lang="de-DE" dirty="0" err="1"/>
              <a:t>note</a:t>
            </a:r>
            <a:r>
              <a:rPr lang="de-DE" dirty="0"/>
              <a:t> / Source</a:t>
            </a:r>
          </a:p>
        </p:txBody>
      </p:sp>
    </p:spTree>
    <p:extLst>
      <p:ext uri="{BB962C8B-B14F-4D97-AF65-F5344CB8AC3E}">
        <p14:creationId xmlns:p14="http://schemas.microsoft.com/office/powerpoint/2010/main" val="57955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23153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16" imgH="416" progId="TCLayout.ActiveDocument.1">
                  <p:embed/>
                </p:oleObj>
              </mc:Choice>
              <mc:Fallback>
                <p:oleObj name="think-cell Folie" r:id="rId4" imgW="416" imgH="416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de-DE" sz="2400" b="1" i="1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95399" y="1628800"/>
            <a:ext cx="5040561" cy="4680521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693211" y="1089964"/>
            <a:ext cx="10808493" cy="252000"/>
          </a:xfrm>
        </p:spPr>
        <p:txBody>
          <a:bodyPr wrap="square">
            <a:spAutoFit/>
          </a:bodyPr>
          <a:lstStyle>
            <a:lvl1pPr marL="0" indent="0">
              <a:buNone/>
              <a:defRPr i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7" hasCustomPrompt="1"/>
          </p:nvPr>
        </p:nvSpPr>
        <p:spPr>
          <a:xfrm>
            <a:off x="6456040" y="1628800"/>
            <a:ext cx="5040561" cy="4680521"/>
          </a:xfrm>
        </p:spPr>
        <p:txBody>
          <a:bodyPr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A1E91-1B68-4FAA-882B-E0D85391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6ED625A7-AAB0-1637-23A0-4FC2B7BB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37602" y="6578152"/>
            <a:ext cx="359073" cy="12311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40A9604-8011-3C44-BA0C-69450F931876}" type="datetime1">
              <a:rPr lang="de-DE" smtClean="0"/>
              <a:t>08.03.26</a:t>
            </a:fld>
            <a:endParaRPr lang="de-DE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93029464-BD75-9E21-DC04-246D2778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058" y="6578152"/>
            <a:ext cx="201978" cy="123111"/>
          </a:xfrm>
        </p:spPr>
        <p:txBody>
          <a:bodyPr/>
          <a:lstStyle/>
          <a:p>
            <a:fld id="{D4A18DF9-8FF6-4BA5-BC52-5FB4772E2292}" type="slidenum">
              <a:rPr lang="de-DE" smtClean="0"/>
              <a:t>‹Nr.›</a:t>
            </a:fld>
            <a:endParaRPr lang="de-DE"/>
          </a:p>
        </p:txBody>
      </p:sp>
      <p:sp>
        <p:nvSpPr>
          <p:cNvPr id="15" name="Fußzeilenplatzhalter 2">
            <a:extLst>
              <a:ext uri="{FF2B5EF4-FFF2-40B4-BE49-F238E27FC236}">
                <a16:creationId xmlns:a16="http://schemas.microsoft.com/office/drawing/2014/main" id="{D1146CCA-4605-363B-A054-431768B54A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9906" y="6521839"/>
            <a:ext cx="3072229" cy="158321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1E7A9C04-4E1F-308A-25F9-FCE1626660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211" y="6541661"/>
            <a:ext cx="5044808" cy="138499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Foot </a:t>
            </a:r>
            <a:r>
              <a:rPr lang="de-DE" dirty="0" err="1"/>
              <a:t>note</a:t>
            </a:r>
            <a:r>
              <a:rPr lang="de-DE" dirty="0"/>
              <a:t> / Source</a:t>
            </a:r>
          </a:p>
        </p:txBody>
      </p:sp>
    </p:spTree>
    <p:extLst>
      <p:ext uri="{BB962C8B-B14F-4D97-AF65-F5344CB8AC3E}">
        <p14:creationId xmlns:p14="http://schemas.microsoft.com/office/powerpoint/2010/main" val="750477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72375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16" imgH="416" progId="TCLayout.ActiveDocument.1">
                  <p:embed/>
                </p:oleObj>
              </mc:Choice>
              <mc:Fallback>
                <p:oleObj name="think-cell Folie" r:id="rId4" imgW="416" imgH="416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de-DE" sz="2400" b="1" i="1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95399" y="1628800"/>
            <a:ext cx="3266230" cy="46805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3"/>
          </p:nvPr>
        </p:nvSpPr>
        <p:spPr>
          <a:xfrm>
            <a:off x="693211" y="1089964"/>
            <a:ext cx="10808493" cy="252000"/>
          </a:xfrm>
        </p:spPr>
        <p:txBody>
          <a:bodyPr wrap="square">
            <a:spAutoFit/>
          </a:bodyPr>
          <a:lstStyle>
            <a:lvl1pPr marL="0" indent="0">
              <a:buNone/>
              <a:defRPr i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Inhaltsplatzhalter 2"/>
          <p:cNvSpPr>
            <a:spLocks noGrp="1"/>
          </p:cNvSpPr>
          <p:nvPr>
            <p:ph idx="16"/>
          </p:nvPr>
        </p:nvSpPr>
        <p:spPr>
          <a:xfrm>
            <a:off x="4461829" y="1628800"/>
            <a:ext cx="3266230" cy="46805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2" name="Inhaltsplatzhalter 2"/>
          <p:cNvSpPr>
            <a:spLocks noGrp="1"/>
          </p:cNvSpPr>
          <p:nvPr>
            <p:ph idx="17"/>
          </p:nvPr>
        </p:nvSpPr>
        <p:spPr>
          <a:xfrm>
            <a:off x="8230370" y="1628800"/>
            <a:ext cx="3266230" cy="468052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0C0F8750-4646-4AF3-B795-F7A66A623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7E8A1545-907A-BFED-BAA9-6AD5BC18FC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37602" y="6578152"/>
            <a:ext cx="359073" cy="12311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144EDFA-4646-C94D-AB98-D824D7CB81D9}" type="datetime1">
              <a:rPr lang="de-DE" smtClean="0"/>
              <a:t>08.03.26</a:t>
            </a:fld>
            <a:endParaRPr lang="de-DE"/>
          </a:p>
        </p:txBody>
      </p:sp>
      <p:sp>
        <p:nvSpPr>
          <p:cNvPr id="19" name="Foliennummernplatzhalter 5">
            <a:extLst>
              <a:ext uri="{FF2B5EF4-FFF2-40B4-BE49-F238E27FC236}">
                <a16:creationId xmlns:a16="http://schemas.microsoft.com/office/drawing/2014/main" id="{59ECF9B4-1180-C287-DD65-E126447B0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058" y="6578152"/>
            <a:ext cx="201978" cy="123111"/>
          </a:xfrm>
        </p:spPr>
        <p:txBody>
          <a:bodyPr/>
          <a:lstStyle/>
          <a:p>
            <a:fld id="{D4A18DF9-8FF6-4BA5-BC52-5FB4772E2292}" type="slidenum">
              <a:rPr lang="de-DE" smtClean="0"/>
              <a:t>‹Nr.›</a:t>
            </a:fld>
            <a:endParaRPr lang="de-DE"/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EDE90EF1-3CD5-2C94-27DA-5B63695BE0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9906" y="6521839"/>
            <a:ext cx="3072229" cy="158321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23" name="Textplatzhalter 16">
            <a:extLst>
              <a:ext uri="{FF2B5EF4-FFF2-40B4-BE49-F238E27FC236}">
                <a16:creationId xmlns:a16="http://schemas.microsoft.com/office/drawing/2014/main" id="{8E6AD53D-47E1-1D0E-F432-35E28C4472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211" y="6541661"/>
            <a:ext cx="5044808" cy="138499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Foot </a:t>
            </a:r>
            <a:r>
              <a:rPr lang="de-DE" dirty="0" err="1"/>
              <a:t>note</a:t>
            </a:r>
            <a:r>
              <a:rPr lang="de-DE" dirty="0"/>
              <a:t> / Source</a:t>
            </a:r>
          </a:p>
        </p:txBody>
      </p:sp>
    </p:spTree>
    <p:extLst>
      <p:ext uri="{BB962C8B-B14F-4D97-AF65-F5344CB8AC3E}">
        <p14:creationId xmlns:p14="http://schemas.microsoft.com/office/powerpoint/2010/main" val="340071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eisel-Library-UCSanDiego-ErikJepsen-72dpi.jpg"/>
          <p:cNvSpPr>
            <a:spLocks noGrp="1"/>
          </p:cNvSpPr>
          <p:nvPr>
            <p:ph type="pic" idx="21" hasCustomPrompt="1"/>
          </p:nvPr>
        </p:nvSpPr>
        <p:spPr>
          <a:xfrm>
            <a:off x="695324" y="1628775"/>
            <a:ext cx="5400675" cy="4679950"/>
          </a:xfrm>
          <a:prstGeom prst="rect">
            <a:avLst/>
          </a:prstGeom>
        </p:spPr>
        <p:txBody>
          <a:bodyPr lIns="91439" tIns="45719" rIns="91439" bIns="45719" anchor="ctr" anchorCtr="0">
            <a:noAutofit/>
          </a:bodyPr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PICTURE</a:t>
            </a:r>
            <a:endParaRPr dirty="0"/>
          </a:p>
        </p:txBody>
      </p:sp>
      <p:sp>
        <p:nvSpPr>
          <p:cNvPr id="4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669288" y="3522133"/>
            <a:ext cx="4827387" cy="27865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412740">
              <a:lnSpc>
                <a:spcPct val="100000"/>
              </a:lnSpc>
              <a:buNone/>
              <a:defRPr sz="2267">
                <a:solidFill>
                  <a:srgbClr val="182B49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1pPr>
            <a:lvl2pPr marL="304792" indent="0" algn="l" defTabSz="412740">
              <a:lnSpc>
                <a:spcPct val="100000"/>
              </a:lnSpc>
              <a:buNone/>
              <a:defRPr sz="2500">
                <a:solidFill>
                  <a:srgbClr val="182B49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2pPr>
            <a:lvl3pPr marL="609585" indent="0" algn="l" defTabSz="412740">
              <a:lnSpc>
                <a:spcPct val="100000"/>
              </a:lnSpc>
              <a:buNone/>
              <a:defRPr sz="2500">
                <a:solidFill>
                  <a:srgbClr val="182B49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3pPr>
            <a:lvl4pPr marL="914377" indent="0" algn="l" defTabSz="412740">
              <a:lnSpc>
                <a:spcPct val="100000"/>
              </a:lnSpc>
              <a:buNone/>
              <a:defRPr sz="2500">
                <a:solidFill>
                  <a:srgbClr val="182B49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4pPr>
            <a:lvl5pPr marL="1219170" indent="0" algn="l" defTabSz="412740">
              <a:lnSpc>
                <a:spcPct val="100000"/>
              </a:lnSpc>
              <a:buNone/>
              <a:defRPr sz="2500">
                <a:solidFill>
                  <a:srgbClr val="182B49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defRPr>
            </a:lvl5pPr>
          </a:lstStyle>
          <a:p>
            <a:r>
              <a:rPr dirty="0"/>
              <a:t>Slide Subtitl</a:t>
            </a:r>
            <a:r>
              <a:rPr lang="en-US" dirty="0"/>
              <a:t>e</a:t>
            </a:r>
            <a:endParaRPr dirty="0"/>
          </a:p>
        </p:txBody>
      </p:sp>
      <p:sp>
        <p:nvSpPr>
          <p:cNvPr id="48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669287" y="1628775"/>
            <a:ext cx="4827387" cy="1800226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dirty="0"/>
              <a:t>Slide Title</a:t>
            </a:r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A3823C1E-FFDC-D1CE-F2F7-20F4E5A724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37602" y="6578152"/>
            <a:ext cx="359073" cy="12311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88CA233-3796-7C41-934F-B36E19B63783}" type="datetime1">
              <a:rPr lang="de-DE" smtClean="0"/>
              <a:t>08.03.26</a:t>
            </a:fld>
            <a:endParaRPr lang="de-DE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E16CF0D0-4319-1F3B-D96B-2EF828FF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058" y="6578152"/>
            <a:ext cx="201978" cy="123111"/>
          </a:xfrm>
        </p:spPr>
        <p:txBody>
          <a:bodyPr/>
          <a:lstStyle/>
          <a:p>
            <a:fld id="{D4A18DF9-8FF6-4BA5-BC52-5FB4772E2292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0152B112-8D03-FC3D-09D4-734526261F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9906" y="6521839"/>
            <a:ext cx="3072229" cy="158321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7" name="Textplatzhalter 16">
            <a:extLst>
              <a:ext uri="{FF2B5EF4-FFF2-40B4-BE49-F238E27FC236}">
                <a16:creationId xmlns:a16="http://schemas.microsoft.com/office/drawing/2014/main" id="{1575D088-DF36-B99E-DDFC-B1144B5382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211" y="6541661"/>
            <a:ext cx="5044808" cy="138499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Foot </a:t>
            </a:r>
            <a:r>
              <a:rPr lang="de-DE" dirty="0" err="1"/>
              <a:t>note</a:t>
            </a:r>
            <a:r>
              <a:rPr lang="de-DE" dirty="0"/>
              <a:t> / Source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28074342-330B-AF03-86AE-95B0FDC56215}"/>
              </a:ext>
            </a:extLst>
          </p:cNvPr>
          <p:cNvSpPr txBox="1">
            <a:spLocks/>
          </p:cNvSpPr>
          <p:nvPr userDrawn="1"/>
        </p:nvSpPr>
        <p:spPr>
          <a:xfrm>
            <a:off x="693210" y="315058"/>
            <a:ext cx="9182311" cy="725959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i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151AE16C-49D7-63EE-5580-8582625614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3211" y="1089964"/>
            <a:ext cx="10808493" cy="252000"/>
          </a:xfrm>
        </p:spPr>
        <p:txBody>
          <a:bodyPr wrap="square">
            <a:spAutoFit/>
          </a:bodyPr>
          <a:lstStyle>
            <a:lvl1pPr marL="0" indent="0">
              <a:buNone/>
              <a:defRPr i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32555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23D4DA-0134-81F9-76AF-7977EAAF1B3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96000" y="1628774"/>
            <a:ext cx="5400675" cy="4679951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A4D55DE-E117-849E-C707-C13C308457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5325" y="1628775"/>
            <a:ext cx="4791075" cy="4679950"/>
          </a:xfrm>
        </p:spPr>
        <p:txBody>
          <a:bodyPr/>
          <a:lstStyle/>
          <a:p>
            <a:pPr lvl="0"/>
            <a:r>
              <a:rPr lang="en-US" dirty="0"/>
              <a:t>Click to edit bulleted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EA450F51-BBF2-3D2D-D105-88FFD50FDA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37602" y="6578152"/>
            <a:ext cx="359073" cy="12311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F9A35B4-CA91-7B48-8784-2EDAB75945C1}" type="datetime1">
              <a:rPr lang="de-DE" smtClean="0"/>
              <a:t>08.03.26</a:t>
            </a:fld>
            <a:endParaRPr lang="de-DE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6765C3CB-1373-BB21-4E48-23A5541F3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058" y="6578152"/>
            <a:ext cx="201978" cy="123111"/>
          </a:xfrm>
        </p:spPr>
        <p:txBody>
          <a:bodyPr/>
          <a:lstStyle/>
          <a:p>
            <a:fld id="{D4A18DF9-8FF6-4BA5-BC52-5FB4772E2292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30D7DA97-9BA3-2B74-B097-59E24655BE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9906" y="6521839"/>
            <a:ext cx="3072229" cy="158321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03E564A4-A1AE-45AF-523D-3BCC620B02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211" y="6541661"/>
            <a:ext cx="5044808" cy="138499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Foot </a:t>
            </a:r>
            <a:r>
              <a:rPr lang="de-DE" dirty="0" err="1"/>
              <a:t>note</a:t>
            </a:r>
            <a:r>
              <a:rPr lang="de-DE" dirty="0"/>
              <a:t> / Source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D2D42298-C397-AEEB-9032-61998E8F3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10" y="315058"/>
            <a:ext cx="9182311" cy="72595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8" name="Textplatzhalter 10">
            <a:extLst>
              <a:ext uri="{FF2B5EF4-FFF2-40B4-BE49-F238E27FC236}">
                <a16:creationId xmlns:a16="http://schemas.microsoft.com/office/drawing/2014/main" id="{2BEC7B9F-28F7-BF5B-6B67-FA89D9D0FE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3211" y="1089964"/>
            <a:ext cx="10808493" cy="252000"/>
          </a:xfrm>
        </p:spPr>
        <p:txBody>
          <a:bodyPr wrap="square">
            <a:spAutoFit/>
          </a:bodyPr>
          <a:lstStyle>
            <a:lvl1pPr marL="0" indent="0">
              <a:buNone/>
              <a:defRPr i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7857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B5F9304C-ED40-A72B-EF6B-713FB285D3E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880350" y="3529999"/>
            <a:ext cx="3616326" cy="2778725"/>
          </a:xfrm>
          <a:prstGeom prst="roundRect">
            <a:avLst>
              <a:gd name="adj" fmla="val 4810"/>
            </a:avLst>
          </a:prstGeo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2147B8C-A263-C308-DE2B-6ACB5B37D63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880350" y="1628773"/>
            <a:ext cx="3616326" cy="1667319"/>
          </a:xfrm>
          <a:prstGeom prst="roundRect">
            <a:avLst>
              <a:gd name="adj" fmla="val 4810"/>
            </a:avLst>
          </a:prstGeo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A2232D1B-79B2-510E-F18D-6B45F1E4205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5325" y="1628774"/>
            <a:ext cx="6969126" cy="4679951"/>
          </a:xfrm>
          <a:prstGeom prst="roundRect">
            <a:avLst>
              <a:gd name="adj" fmla="val 2254"/>
            </a:avLst>
          </a:prstGeo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E4AD2601-BF51-B592-4637-97043CCFC587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11137602" y="6578152"/>
            <a:ext cx="359073" cy="12311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69A9879-366C-784A-B3C6-CDA0693D4BB7}" type="datetime1">
              <a:rPr lang="de-DE" smtClean="0"/>
              <a:t>08.03.26</a:t>
            </a:fld>
            <a:endParaRPr lang="de-DE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036E8DAB-F6F9-19BD-A5F9-014C8398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058" y="6578152"/>
            <a:ext cx="201978" cy="123111"/>
          </a:xfrm>
        </p:spPr>
        <p:txBody>
          <a:bodyPr/>
          <a:lstStyle/>
          <a:p>
            <a:fld id="{D4A18DF9-8FF6-4BA5-BC52-5FB4772E2292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402C8E42-4B18-717E-6527-95A7C48A18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9906" y="6521839"/>
            <a:ext cx="3072229" cy="158321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57529753-FB03-87A6-C2F2-0C597216C6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211" y="6541661"/>
            <a:ext cx="5044808" cy="138499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Foot </a:t>
            </a:r>
            <a:r>
              <a:rPr lang="de-DE" dirty="0" err="1"/>
              <a:t>note</a:t>
            </a:r>
            <a:r>
              <a:rPr lang="de-DE" dirty="0"/>
              <a:t> / Source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14F76631-7594-5EBB-3DE2-2CD47786D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210" y="315058"/>
            <a:ext cx="9182311" cy="72595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B446EF4-2C06-833B-FED0-494224E77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3211" y="1089964"/>
            <a:ext cx="10808493" cy="252000"/>
          </a:xfrm>
        </p:spPr>
        <p:txBody>
          <a:bodyPr wrap="square">
            <a:spAutoFit/>
          </a:bodyPr>
          <a:lstStyle>
            <a:lvl1pPr marL="0" indent="0">
              <a:buNone/>
              <a:defRPr i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68919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Statem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C18298-472D-30A8-6D8F-5FEC9423A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691"/>
          <a:stretch/>
        </p:blipFill>
        <p:spPr>
          <a:xfrm>
            <a:off x="2467" y="6290733"/>
            <a:ext cx="12192000" cy="570041"/>
          </a:xfrm>
          <a:prstGeom prst="rect">
            <a:avLst/>
          </a:prstGeom>
        </p:spPr>
      </p:pic>
      <p:sp>
        <p:nvSpPr>
          <p:cNvPr id="15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9601" y="533401"/>
            <a:ext cx="10972799" cy="537209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6400" b="1" i="0">
                <a:solidFill>
                  <a:schemeClr val="bg2"/>
                </a:solidFill>
                <a:latin typeface="Teko SemiBold" pitchFamily="2" charset="77"/>
              </a:defRPr>
            </a:lvl1pPr>
            <a:lvl2pPr marL="304792" indent="0" algn="ctr">
              <a:buNone/>
              <a:defRPr b="1" i="0">
                <a:solidFill>
                  <a:schemeClr val="bg1"/>
                </a:solidFill>
                <a:latin typeface="Teko" pitchFamily="2" charset="77"/>
              </a:defRPr>
            </a:lvl2pPr>
            <a:lvl3pPr marL="609585" indent="0" algn="ctr">
              <a:buNone/>
              <a:defRPr b="1" i="0">
                <a:solidFill>
                  <a:schemeClr val="bg1"/>
                </a:solidFill>
                <a:latin typeface="Teko" pitchFamily="2" charset="77"/>
              </a:defRPr>
            </a:lvl3pPr>
            <a:lvl4pPr marL="914377" indent="0" algn="ctr">
              <a:buNone/>
              <a:defRPr b="1" i="0">
                <a:solidFill>
                  <a:schemeClr val="bg1"/>
                </a:solidFill>
                <a:latin typeface="Teko" pitchFamily="2" charset="77"/>
              </a:defRPr>
            </a:lvl4pPr>
            <a:lvl5pPr marL="1219170" indent="0" algn="ctr">
              <a:buNone/>
              <a:defRPr b="1" i="0">
                <a:solidFill>
                  <a:schemeClr val="bg1"/>
                </a:solidFill>
                <a:latin typeface="Teko" pitchFamily="2" charset="77"/>
              </a:defRPr>
            </a:lvl5pPr>
          </a:lstStyle>
          <a:p>
            <a:r>
              <a:rPr lang="en-US" dirty="0"/>
              <a:t>Statement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578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18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16" imgH="416" progId="TCLayout.ActiveDocument.1">
                  <p:embed/>
                </p:oleObj>
              </mc:Choice>
              <mc:Fallback>
                <p:oleObj name="think-cell Folie" r:id="rId4" imgW="416" imgH="416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de-DE" sz="2400" b="1" i="1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2EDE96E3-EE0D-0CFB-C078-DE758B11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37602" y="6578152"/>
            <a:ext cx="359073" cy="12311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4380A41-35F1-3841-B91A-1C34B4D8B197}" type="datetime1">
              <a:rPr lang="de-DE" smtClean="0"/>
              <a:t>08.03.26</a:t>
            </a:fld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44AFDB-C124-88A3-88B2-AC937ABAB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058" y="6578152"/>
            <a:ext cx="201978" cy="123111"/>
          </a:xfrm>
        </p:spPr>
        <p:txBody>
          <a:bodyPr/>
          <a:lstStyle/>
          <a:p>
            <a:fld id="{D4A18DF9-8FF6-4BA5-BC52-5FB4772E2292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573F1A70-89D3-9D36-3579-A685505B64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9906" y="6521839"/>
            <a:ext cx="3072229" cy="158321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8A66E27F-CBF5-4C9A-CBE6-32677D0444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211" y="6541661"/>
            <a:ext cx="5044808" cy="138499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Foot </a:t>
            </a:r>
            <a:r>
              <a:rPr lang="de-DE" dirty="0" err="1"/>
              <a:t>note</a:t>
            </a:r>
            <a:r>
              <a:rPr lang="de-DE" dirty="0"/>
              <a:t> / Source</a:t>
            </a:r>
          </a:p>
        </p:txBody>
      </p:sp>
    </p:spTree>
    <p:extLst>
      <p:ext uri="{BB962C8B-B14F-4D97-AF65-F5344CB8AC3E}">
        <p14:creationId xmlns:p14="http://schemas.microsoft.com/office/powerpoint/2010/main" val="24316445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CSD-BrandRefresh-PPTBackgrounds-v4_Blues-NotchTopBottom.png">
            <a:extLst>
              <a:ext uri="{FF2B5EF4-FFF2-40B4-BE49-F238E27FC236}">
                <a16:creationId xmlns:a16="http://schemas.microsoft.com/office/drawing/2014/main" id="{702C6082-53A1-1883-11B0-4BD36D22F7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95"/>
          <a:stretch/>
        </p:blipFill>
        <p:spPr>
          <a:xfrm flipH="1">
            <a:off x="-1" y="2504881"/>
            <a:ext cx="12211249" cy="4376269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80393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416" imgH="416" progId="TCLayout.ActiveDocument.1">
                  <p:embed/>
                </p:oleObj>
              </mc:Choice>
              <mc:Fallback>
                <p:oleObj name="think-cell Folie" r:id="rId5" imgW="416" imgH="416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de-DE" sz="2400" b="1" i="1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grpSp>
        <p:nvGrpSpPr>
          <p:cNvPr id="16" name="Gruppieren 15"/>
          <p:cNvGrpSpPr/>
          <p:nvPr userDrawn="1"/>
        </p:nvGrpSpPr>
        <p:grpSpPr>
          <a:xfrm>
            <a:off x="696649" y="6867625"/>
            <a:ext cx="10803834" cy="414000"/>
            <a:chOff x="696649" y="-304800"/>
            <a:chExt cx="10803834" cy="7298267"/>
          </a:xfrm>
        </p:grpSpPr>
        <p:cxnSp>
          <p:nvCxnSpPr>
            <p:cNvPr id="18" name="Gerader Verbinder 17"/>
            <p:cNvCxnSpPr/>
            <p:nvPr userDrawn="1"/>
          </p:nvCxnSpPr>
          <p:spPr>
            <a:xfrm>
              <a:off x="696649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/>
            <p:cNvCxnSpPr/>
            <p:nvPr userDrawn="1"/>
          </p:nvCxnSpPr>
          <p:spPr>
            <a:xfrm>
              <a:off x="11500483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/>
            <p:cNvCxnSpPr/>
            <p:nvPr userDrawn="1"/>
          </p:nvCxnSpPr>
          <p:spPr>
            <a:xfrm>
              <a:off x="6096000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pieren 21"/>
          <p:cNvGrpSpPr/>
          <p:nvPr userDrawn="1"/>
        </p:nvGrpSpPr>
        <p:grpSpPr>
          <a:xfrm>
            <a:off x="-442761" y="196265"/>
            <a:ext cx="413886" cy="6481459"/>
            <a:chOff x="-442761" y="196265"/>
            <a:chExt cx="413886" cy="6481459"/>
          </a:xfrm>
        </p:grpSpPr>
        <p:cxnSp>
          <p:nvCxnSpPr>
            <p:cNvPr id="23" name="Gerader Verbinder 22"/>
            <p:cNvCxnSpPr/>
            <p:nvPr userDrawn="1"/>
          </p:nvCxnSpPr>
          <p:spPr>
            <a:xfrm>
              <a:off x="-442761" y="196265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>
            <a:xfrm>
              <a:off x="-442761" y="966334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/>
            <p:cNvCxnSpPr/>
            <p:nvPr userDrawn="1"/>
          </p:nvCxnSpPr>
          <p:spPr>
            <a:xfrm>
              <a:off x="-442761" y="1273597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/>
            <p:cNvCxnSpPr/>
            <p:nvPr userDrawn="1"/>
          </p:nvCxnSpPr>
          <p:spPr>
            <a:xfrm>
              <a:off x="-442761" y="6308725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/>
            <p:cNvCxnSpPr/>
            <p:nvPr userDrawn="1"/>
          </p:nvCxnSpPr>
          <p:spPr>
            <a:xfrm>
              <a:off x="-442761" y="6677724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/>
            <p:cNvCxnSpPr/>
            <p:nvPr userDrawn="1"/>
          </p:nvCxnSpPr>
          <p:spPr>
            <a:xfrm>
              <a:off x="-442761" y="1633261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/>
            <p:cNvCxnSpPr/>
            <p:nvPr userDrawn="1"/>
          </p:nvCxnSpPr>
          <p:spPr>
            <a:xfrm>
              <a:off x="-442761" y="3429000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uppieren 29"/>
          <p:cNvGrpSpPr/>
          <p:nvPr userDrawn="1"/>
        </p:nvGrpSpPr>
        <p:grpSpPr>
          <a:xfrm>
            <a:off x="12211250" y="196265"/>
            <a:ext cx="413886" cy="6481459"/>
            <a:chOff x="12211250" y="196265"/>
            <a:chExt cx="413886" cy="6481459"/>
          </a:xfrm>
        </p:grpSpPr>
        <p:grpSp>
          <p:nvGrpSpPr>
            <p:cNvPr id="31" name="Gruppieren 30"/>
            <p:cNvGrpSpPr/>
            <p:nvPr userDrawn="1"/>
          </p:nvGrpSpPr>
          <p:grpSpPr>
            <a:xfrm>
              <a:off x="12211250" y="196265"/>
              <a:ext cx="413886" cy="6481459"/>
              <a:chOff x="-728133" y="196265"/>
              <a:chExt cx="13140266" cy="6481459"/>
            </a:xfrm>
          </p:grpSpPr>
          <p:cxnSp>
            <p:nvCxnSpPr>
              <p:cNvPr id="33" name="Gerader Verbinder 32"/>
              <p:cNvCxnSpPr/>
              <p:nvPr userDrawn="1"/>
            </p:nvCxnSpPr>
            <p:spPr>
              <a:xfrm>
                <a:off x="-728133" y="196265"/>
                <a:ext cx="13140266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Gerader Verbinder 33"/>
              <p:cNvCxnSpPr/>
              <p:nvPr userDrawn="1"/>
            </p:nvCxnSpPr>
            <p:spPr>
              <a:xfrm>
                <a:off x="-728133" y="966334"/>
                <a:ext cx="13140266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/>
              <p:cNvCxnSpPr/>
              <p:nvPr userDrawn="1"/>
            </p:nvCxnSpPr>
            <p:spPr>
              <a:xfrm>
                <a:off x="-728133" y="1273597"/>
                <a:ext cx="13140266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r Verbinder 35"/>
              <p:cNvCxnSpPr/>
              <p:nvPr userDrawn="1"/>
            </p:nvCxnSpPr>
            <p:spPr>
              <a:xfrm>
                <a:off x="-728133" y="6308725"/>
                <a:ext cx="13140266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Gerader Verbinder 36"/>
              <p:cNvCxnSpPr/>
              <p:nvPr userDrawn="1"/>
            </p:nvCxnSpPr>
            <p:spPr>
              <a:xfrm>
                <a:off x="-728133" y="6677724"/>
                <a:ext cx="13140266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Gerader Verbinder 37"/>
              <p:cNvCxnSpPr/>
              <p:nvPr userDrawn="1"/>
            </p:nvCxnSpPr>
            <p:spPr>
              <a:xfrm>
                <a:off x="-728133" y="1633261"/>
                <a:ext cx="13140266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Gerader Verbinder 31"/>
            <p:cNvCxnSpPr/>
            <p:nvPr userDrawn="1"/>
          </p:nvCxnSpPr>
          <p:spPr>
            <a:xfrm>
              <a:off x="12211250" y="3429000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uppieren 38"/>
          <p:cNvGrpSpPr/>
          <p:nvPr userDrawn="1"/>
        </p:nvGrpSpPr>
        <p:grpSpPr>
          <a:xfrm>
            <a:off x="696649" y="-442875"/>
            <a:ext cx="10803834" cy="414000"/>
            <a:chOff x="696649" y="-304800"/>
            <a:chExt cx="10803834" cy="7298267"/>
          </a:xfrm>
        </p:grpSpPr>
        <p:cxnSp>
          <p:nvCxnSpPr>
            <p:cNvPr id="40" name="Gerader Verbinder 39"/>
            <p:cNvCxnSpPr/>
            <p:nvPr userDrawn="1"/>
          </p:nvCxnSpPr>
          <p:spPr>
            <a:xfrm>
              <a:off x="696649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/>
            <p:cNvCxnSpPr/>
            <p:nvPr userDrawn="1"/>
          </p:nvCxnSpPr>
          <p:spPr>
            <a:xfrm>
              <a:off x="11500483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/>
            <p:cNvCxnSpPr/>
            <p:nvPr userDrawn="1"/>
          </p:nvCxnSpPr>
          <p:spPr>
            <a:xfrm>
              <a:off x="6096000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platzhalt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95325" y="1228101"/>
            <a:ext cx="10801350" cy="1105088"/>
          </a:xfrm>
        </p:spPr>
        <p:txBody>
          <a:bodyPr wrap="square" tIns="180000">
            <a:spAutoFit/>
          </a:bodyPr>
          <a:lstStyle>
            <a:lvl1pPr marL="0" indent="0">
              <a:buNone/>
              <a:defRPr sz="6000" b="1" i="1"/>
            </a:lvl1pPr>
          </a:lstStyle>
          <a:p>
            <a:pPr lvl="0"/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91834A6B-5340-93E0-B0D6-CC219C0FD7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37602" y="6578152"/>
            <a:ext cx="359073" cy="12311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A4575D2-D858-D849-BBBD-61633E441CEF}" type="datetime1">
              <a:rPr lang="de-DE" smtClean="0"/>
              <a:t>08.03.26</a:t>
            </a:fld>
            <a:endParaRPr lang="de-DE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BEF684F9-5F0F-A476-88D2-0A13F079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3058" y="6578152"/>
            <a:ext cx="201978" cy="123111"/>
          </a:xfrm>
        </p:spPr>
        <p:txBody>
          <a:bodyPr/>
          <a:lstStyle/>
          <a:p>
            <a:fld id="{D4A18DF9-8FF6-4BA5-BC52-5FB4772E2292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50ADD075-376E-3D06-32A7-42B51EF7A12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9906" y="6521839"/>
            <a:ext cx="3072229" cy="158321"/>
          </a:xfrm>
        </p:spPr>
        <p:txBody>
          <a:bodyPr/>
          <a:lstStyle>
            <a:lvl1pPr>
              <a:defRPr sz="900"/>
            </a:lvl1pPr>
          </a:lstStyle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D1D50E26-7735-2BBD-AC77-8F8BB381DD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3211" y="6541661"/>
            <a:ext cx="5044808" cy="138499"/>
          </a:xfrm>
        </p:spPr>
        <p:txBody>
          <a:bodyPr wrap="square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Foot </a:t>
            </a:r>
            <a:r>
              <a:rPr lang="de-DE" dirty="0" err="1"/>
              <a:t>note</a:t>
            </a:r>
            <a:r>
              <a:rPr lang="de-DE" dirty="0"/>
              <a:t> / Source</a:t>
            </a:r>
          </a:p>
        </p:txBody>
      </p:sp>
    </p:spTree>
    <p:extLst>
      <p:ext uri="{BB962C8B-B14F-4D97-AF65-F5344CB8AC3E}">
        <p14:creationId xmlns:p14="http://schemas.microsoft.com/office/powerpoint/2010/main" val="4051019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UCSD-BrandRefresh-PPTBackgrounds-v4_Blues-NotchTopBottom.png">
            <a:extLst>
              <a:ext uri="{FF2B5EF4-FFF2-40B4-BE49-F238E27FC236}">
                <a16:creationId xmlns:a16="http://schemas.microsoft.com/office/drawing/2014/main" id="{08270A47-8E60-C265-9A9F-B90CE9D28C8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95"/>
          <a:stretch/>
        </p:blipFill>
        <p:spPr>
          <a:xfrm flipH="1">
            <a:off x="-3176" y="2485831"/>
            <a:ext cx="12211244" cy="4376269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8" name="Objekt 7" hidden="1"/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962081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9" imgW="416" imgH="416" progId="TCLayout.ActiveDocument.1">
                  <p:embed/>
                </p:oleObj>
              </mc:Choice>
              <mc:Fallback>
                <p:oleObj name="think-cell Folie" r:id="rId19" imgW="416" imgH="416" progId="TCLayout.ActiveDocument.1">
                  <p:embed/>
                  <p:pic>
                    <p:nvPicPr>
                      <p:cNvPr id="8" name="Objekt 7" hidden="1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hteck 6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/>
            <a:endParaRPr lang="de-DE" sz="2400" b="1" i="1" baseline="0" dirty="0">
              <a:latin typeface="Calibri" panose="020F0502020204030204" pitchFamily="34" charset="0"/>
              <a:ea typeface="+mj-ea"/>
              <a:cs typeface="+mj-cs"/>
              <a:sym typeface="Calibri" panose="020F0502020204030204" pitchFamily="34" charset="0"/>
            </a:endParaRPr>
          </a:p>
        </p:txBody>
      </p:sp>
      <p:sp>
        <p:nvSpPr>
          <p:cNvPr id="37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6099906" y="6521839"/>
            <a:ext cx="3072229" cy="15832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 b="1" smtClean="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93210" y="315058"/>
            <a:ext cx="9182311" cy="725959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95399" y="1628800"/>
            <a:ext cx="10801201" cy="46805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grpSp>
        <p:nvGrpSpPr>
          <p:cNvPr id="13" name="Gruppieren 12"/>
          <p:cNvGrpSpPr/>
          <p:nvPr userDrawn="1"/>
        </p:nvGrpSpPr>
        <p:grpSpPr>
          <a:xfrm>
            <a:off x="696649" y="6867625"/>
            <a:ext cx="10803834" cy="414000"/>
            <a:chOff x="696649" y="-304800"/>
            <a:chExt cx="10803834" cy="7298267"/>
          </a:xfrm>
        </p:grpSpPr>
        <p:cxnSp>
          <p:nvCxnSpPr>
            <p:cNvPr id="14" name="Gerader Verbinder 13"/>
            <p:cNvCxnSpPr/>
            <p:nvPr userDrawn="1"/>
          </p:nvCxnSpPr>
          <p:spPr>
            <a:xfrm>
              <a:off x="696649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/>
            <p:cNvCxnSpPr/>
            <p:nvPr userDrawn="1"/>
          </p:nvCxnSpPr>
          <p:spPr>
            <a:xfrm>
              <a:off x="11500483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uppieren 38"/>
          <p:cNvGrpSpPr/>
          <p:nvPr userDrawn="1"/>
        </p:nvGrpSpPr>
        <p:grpSpPr>
          <a:xfrm>
            <a:off x="-442761" y="196265"/>
            <a:ext cx="413886" cy="6481459"/>
            <a:chOff x="-442761" y="196265"/>
            <a:chExt cx="413886" cy="6481459"/>
          </a:xfrm>
        </p:grpSpPr>
        <p:cxnSp>
          <p:nvCxnSpPr>
            <p:cNvPr id="18" name="Gerader Verbinder 17"/>
            <p:cNvCxnSpPr/>
            <p:nvPr userDrawn="1"/>
          </p:nvCxnSpPr>
          <p:spPr>
            <a:xfrm>
              <a:off x="-442761" y="196265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/>
            <p:cNvCxnSpPr/>
            <p:nvPr userDrawn="1"/>
          </p:nvCxnSpPr>
          <p:spPr>
            <a:xfrm>
              <a:off x="-442761" y="966334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/>
            <p:cNvCxnSpPr/>
            <p:nvPr userDrawn="1"/>
          </p:nvCxnSpPr>
          <p:spPr>
            <a:xfrm>
              <a:off x="-442761" y="1273597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r Verbinder 20"/>
            <p:cNvCxnSpPr/>
            <p:nvPr userDrawn="1"/>
          </p:nvCxnSpPr>
          <p:spPr>
            <a:xfrm>
              <a:off x="-442761" y="6308725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/>
            <p:cNvCxnSpPr/>
            <p:nvPr userDrawn="1"/>
          </p:nvCxnSpPr>
          <p:spPr>
            <a:xfrm>
              <a:off x="-442761" y="6677724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/>
            <p:cNvCxnSpPr/>
            <p:nvPr userDrawn="1"/>
          </p:nvCxnSpPr>
          <p:spPr>
            <a:xfrm>
              <a:off x="-442761" y="1633261"/>
              <a:ext cx="41388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/>
          <p:cNvGrpSpPr/>
          <p:nvPr userDrawn="1"/>
        </p:nvGrpSpPr>
        <p:grpSpPr>
          <a:xfrm>
            <a:off x="12211250" y="196265"/>
            <a:ext cx="413886" cy="6481459"/>
            <a:chOff x="-728133" y="196265"/>
            <a:chExt cx="13140266" cy="6481459"/>
          </a:xfrm>
        </p:grpSpPr>
        <p:cxnSp>
          <p:nvCxnSpPr>
            <p:cNvPr id="28" name="Gerader Verbinder 27"/>
            <p:cNvCxnSpPr/>
            <p:nvPr userDrawn="1"/>
          </p:nvCxnSpPr>
          <p:spPr>
            <a:xfrm>
              <a:off x="-728133" y="196265"/>
              <a:ext cx="1314026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/>
            <p:cNvCxnSpPr/>
            <p:nvPr userDrawn="1"/>
          </p:nvCxnSpPr>
          <p:spPr>
            <a:xfrm>
              <a:off x="-728133" y="966334"/>
              <a:ext cx="1314026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/>
            <p:cNvCxnSpPr/>
            <p:nvPr userDrawn="1"/>
          </p:nvCxnSpPr>
          <p:spPr>
            <a:xfrm>
              <a:off x="-728133" y="1273597"/>
              <a:ext cx="1314026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r Verbinder 30"/>
            <p:cNvCxnSpPr/>
            <p:nvPr userDrawn="1"/>
          </p:nvCxnSpPr>
          <p:spPr>
            <a:xfrm>
              <a:off x="-728133" y="6308725"/>
              <a:ext cx="1314026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Gerader Verbinder 31"/>
            <p:cNvCxnSpPr/>
            <p:nvPr userDrawn="1"/>
          </p:nvCxnSpPr>
          <p:spPr>
            <a:xfrm>
              <a:off x="-728133" y="6677724"/>
              <a:ext cx="1314026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Gerader Verbinder 32"/>
            <p:cNvCxnSpPr/>
            <p:nvPr userDrawn="1"/>
          </p:nvCxnSpPr>
          <p:spPr>
            <a:xfrm>
              <a:off x="-728133" y="1633261"/>
              <a:ext cx="13140266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uppieren 33"/>
          <p:cNvGrpSpPr/>
          <p:nvPr userDrawn="1"/>
        </p:nvGrpSpPr>
        <p:grpSpPr>
          <a:xfrm>
            <a:off x="696649" y="-442875"/>
            <a:ext cx="10803834" cy="414000"/>
            <a:chOff x="696649" y="-304800"/>
            <a:chExt cx="10803834" cy="7298267"/>
          </a:xfrm>
        </p:grpSpPr>
        <p:cxnSp>
          <p:nvCxnSpPr>
            <p:cNvPr id="35" name="Gerader Verbinder 34"/>
            <p:cNvCxnSpPr/>
            <p:nvPr userDrawn="1"/>
          </p:nvCxnSpPr>
          <p:spPr>
            <a:xfrm>
              <a:off x="696649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/>
            <p:cNvCxnSpPr/>
            <p:nvPr userDrawn="1"/>
          </p:nvCxnSpPr>
          <p:spPr>
            <a:xfrm>
              <a:off x="11500483" y="-304800"/>
              <a:ext cx="0" cy="729826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1160043" y="6578152"/>
            <a:ext cx="336632" cy="123111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800" b="0">
                <a:solidFill>
                  <a:schemeClr val="bg1"/>
                </a:solidFill>
              </a:defRPr>
            </a:lvl1pPr>
          </a:lstStyle>
          <a:p>
            <a:fld id="{D6243C32-1262-0C47-99C6-9E99BFB72501}" type="datetime1">
              <a:rPr lang="de-DE" smtClean="0">
                <a:solidFill>
                  <a:schemeClr val="bg2"/>
                </a:solidFill>
              </a:rPr>
              <a:t>08.03.26</a:t>
            </a:fld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683058" y="6578152"/>
            <a:ext cx="201978" cy="123111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r">
              <a:defRPr sz="800" b="1">
                <a:solidFill>
                  <a:schemeClr val="bg2"/>
                </a:solidFill>
              </a:defRPr>
            </a:lvl1pPr>
          </a:lstStyle>
          <a:p>
            <a:fld id="{D4A18DF9-8FF6-4BA5-BC52-5FB4772E2292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38" name="Gerader Verbinder 37"/>
          <p:cNvCxnSpPr/>
          <p:nvPr userDrawn="1"/>
        </p:nvCxnSpPr>
        <p:spPr>
          <a:xfrm>
            <a:off x="11324724" y="-442875"/>
            <a:ext cx="0" cy="414000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54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72" r:id="rId2"/>
    <p:sldLayoutId id="2147483663" r:id="rId3"/>
    <p:sldLayoutId id="2147483673" r:id="rId4"/>
    <p:sldLayoutId id="2147483671" r:id="rId5"/>
    <p:sldLayoutId id="2147483650" r:id="rId6"/>
    <p:sldLayoutId id="2147483657" r:id="rId7"/>
    <p:sldLayoutId id="2147483670" r:id="rId8"/>
    <p:sldLayoutId id="2147483674" r:id="rId9"/>
    <p:sldLayoutId id="2147483675" r:id="rId10"/>
    <p:sldLayoutId id="2147483677" r:id="rId11"/>
    <p:sldLayoutId id="2147483676" r:id="rId12"/>
    <p:sldLayoutId id="2147483669" r:id="rId13"/>
    <p:sldLayoutId id="2147483664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i="1" kern="1200">
          <a:solidFill>
            <a:srgbClr val="172A49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438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4208" userDrawn="1">
          <p15:clr>
            <a:srgbClr val="F26B43"/>
          </p15:clr>
        </p15:guide>
        <p15:guide id="7" orient="horz" pos="1026" userDrawn="1">
          <p15:clr>
            <a:srgbClr val="F26B43"/>
          </p15:clr>
        </p15:guide>
        <p15:guide id="8" orient="horz" pos="803" userDrawn="1">
          <p15:clr>
            <a:srgbClr val="F26B43"/>
          </p15:clr>
        </p15:guide>
        <p15:guide id="9" orient="horz" pos="608" userDrawn="1">
          <p15:clr>
            <a:srgbClr val="F26B43"/>
          </p15:clr>
        </p15:guide>
        <p15:guide id="10" orient="horz" pos="122" userDrawn="1">
          <p15:clr>
            <a:srgbClr val="F26B43"/>
          </p15:clr>
        </p15:guide>
        <p15:guide id="11" pos="3616" userDrawn="1">
          <p15:clr>
            <a:srgbClr val="A4A3A4"/>
          </p15:clr>
        </p15:guide>
        <p15:guide id="12" pos="40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1E56FE-33BD-0A7C-0127-C0525D6EED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Causal Effect of Special Elections on Media Internal Pluralism: A Historical Investigation</a:t>
            </a:r>
            <a:br>
              <a:rPr lang="de-US" dirty="0"/>
            </a:b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D86C63B-1A09-3D1A-FA11-2FE773D8DA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Niklas Haehn</a:t>
            </a:r>
          </a:p>
          <a:p>
            <a:r>
              <a:rPr lang="en-US" dirty="0"/>
              <a:t>Department of Political Science</a:t>
            </a:r>
          </a:p>
          <a:p>
            <a:r>
              <a:rPr lang="en-US" dirty="0"/>
              <a:t>University of California, San Diego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5E90431-2A66-6BF9-0EE2-448AC195B4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San Diego, 04/08/2026</a:t>
            </a:r>
          </a:p>
        </p:txBody>
      </p:sp>
    </p:spTree>
    <p:extLst>
      <p:ext uri="{BB962C8B-B14F-4D97-AF65-F5344CB8AC3E}">
        <p14:creationId xmlns:p14="http://schemas.microsoft.com/office/powerpoint/2010/main" val="2478507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F4F67E4-3CF0-F925-A0F6-E1D7F1263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638" y="1628775"/>
            <a:ext cx="10801201" cy="4680521"/>
          </a:xfrm>
        </p:spPr>
        <p:txBody>
          <a:bodyPr/>
          <a:lstStyle/>
          <a:p>
            <a:r>
              <a:rPr lang="de-DE" sz="1800" dirty="0" err="1"/>
              <a:t>Classical</a:t>
            </a:r>
            <a:r>
              <a:rPr lang="de-DE" sz="1800" dirty="0"/>
              <a:t> </a:t>
            </a:r>
            <a:r>
              <a:rPr lang="de-DE" sz="1800" dirty="0" err="1"/>
              <a:t>models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voting</a:t>
            </a:r>
            <a:r>
              <a:rPr lang="de-DE" sz="1800" dirty="0"/>
              <a:t> in </a:t>
            </a:r>
            <a:r>
              <a:rPr lang="de-DE" sz="1800" dirty="0" err="1"/>
              <a:t>political</a:t>
            </a:r>
            <a:r>
              <a:rPr lang="de-DE" sz="1800" dirty="0"/>
              <a:t> </a:t>
            </a:r>
            <a:r>
              <a:rPr lang="de-DE" sz="1800" dirty="0" err="1"/>
              <a:t>science</a:t>
            </a:r>
            <a:r>
              <a:rPr lang="de-DE" sz="1800" dirty="0"/>
              <a:t> </a:t>
            </a:r>
            <a:r>
              <a:rPr lang="de-DE" sz="1800" dirty="0" err="1"/>
              <a:t>assume</a:t>
            </a:r>
            <a:r>
              <a:rPr lang="de-DE" sz="1800" dirty="0"/>
              <a:t> </a:t>
            </a:r>
            <a:r>
              <a:rPr lang="de-DE" sz="1800" dirty="0" err="1"/>
              <a:t>that</a:t>
            </a:r>
            <a:r>
              <a:rPr lang="de-DE" sz="1800" dirty="0"/>
              <a:t> </a:t>
            </a:r>
            <a:r>
              <a:rPr lang="de-DE" sz="1800" dirty="0" err="1"/>
              <a:t>voters</a:t>
            </a:r>
            <a:r>
              <a:rPr lang="de-DE" sz="1800" dirty="0"/>
              <a:t> </a:t>
            </a:r>
            <a:r>
              <a:rPr lang="de-DE" sz="1800" dirty="0" err="1"/>
              <a:t>make</a:t>
            </a:r>
            <a:r>
              <a:rPr lang="de-DE" sz="1800" dirty="0"/>
              <a:t> </a:t>
            </a:r>
            <a:r>
              <a:rPr lang="de-DE" sz="1800" dirty="0" err="1"/>
              <a:t>their</a:t>
            </a:r>
            <a:r>
              <a:rPr lang="de-DE" sz="1800" dirty="0"/>
              <a:t> </a:t>
            </a:r>
            <a:r>
              <a:rPr lang="de-DE" sz="1800" dirty="0" err="1"/>
              <a:t>electoral</a:t>
            </a:r>
            <a:r>
              <a:rPr lang="de-DE" sz="1800" dirty="0"/>
              <a:t> </a:t>
            </a:r>
            <a:r>
              <a:rPr lang="de-DE" sz="1800" b="1" dirty="0" err="1"/>
              <a:t>decisions</a:t>
            </a:r>
            <a:r>
              <a:rPr lang="de-DE" sz="1800" b="1" dirty="0"/>
              <a:t> </a:t>
            </a:r>
            <a:r>
              <a:rPr lang="de-DE" sz="1800" b="1" dirty="0" err="1"/>
              <a:t>based</a:t>
            </a:r>
            <a:r>
              <a:rPr lang="de-DE" sz="1800" b="1" dirty="0"/>
              <a:t> on (</a:t>
            </a:r>
            <a:r>
              <a:rPr lang="de-DE" sz="1800" b="1" dirty="0" err="1"/>
              <a:t>full</a:t>
            </a:r>
            <a:r>
              <a:rPr lang="de-DE" sz="1800" b="1" dirty="0"/>
              <a:t>) </a:t>
            </a:r>
            <a:r>
              <a:rPr lang="de-DE" sz="1800" b="1" dirty="0" err="1"/>
              <a:t>information</a:t>
            </a:r>
            <a:r>
              <a:rPr lang="de-DE" sz="1800" dirty="0"/>
              <a:t>.</a:t>
            </a:r>
          </a:p>
          <a:p>
            <a:pPr lvl="1"/>
            <a:r>
              <a:rPr lang="de-DE" dirty="0"/>
              <a:t>(Downs 1957; Fiorina 1978)</a:t>
            </a:r>
            <a:endParaRPr lang="de-DE" sz="1800" dirty="0"/>
          </a:p>
          <a:p>
            <a:r>
              <a:rPr lang="de-DE" sz="1800" dirty="0"/>
              <a:t>The </a:t>
            </a:r>
            <a:r>
              <a:rPr lang="de-DE" sz="1800" dirty="0" err="1"/>
              <a:t>media</a:t>
            </a:r>
            <a:r>
              <a:rPr lang="de-DE" sz="1800" dirty="0"/>
              <a:t> </a:t>
            </a:r>
            <a:r>
              <a:rPr lang="de-DE" sz="1800" dirty="0" err="1"/>
              <a:t>constitute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b="1" dirty="0" err="1"/>
              <a:t>central</a:t>
            </a:r>
            <a:r>
              <a:rPr lang="de-DE" sz="1800" b="1" dirty="0"/>
              <a:t> </a:t>
            </a:r>
            <a:r>
              <a:rPr lang="de-DE" sz="1800" b="1" dirty="0" err="1"/>
              <a:t>mediator</a:t>
            </a:r>
            <a:r>
              <a:rPr lang="de-DE" sz="1800" b="1" dirty="0"/>
              <a:t> </a:t>
            </a:r>
            <a:r>
              <a:rPr lang="de-DE" sz="1800" b="1" dirty="0" err="1"/>
              <a:t>between</a:t>
            </a:r>
            <a:r>
              <a:rPr lang="de-DE" sz="1800" b="1" dirty="0"/>
              <a:t> </a:t>
            </a:r>
            <a:r>
              <a:rPr lang="de-DE" sz="1800" b="1" dirty="0" err="1"/>
              <a:t>voters</a:t>
            </a:r>
            <a:r>
              <a:rPr lang="de-DE" sz="1800" b="1" dirty="0"/>
              <a:t> and </a:t>
            </a:r>
            <a:r>
              <a:rPr lang="de-DE" sz="1800" b="1" dirty="0" err="1"/>
              <a:t>political</a:t>
            </a:r>
            <a:r>
              <a:rPr lang="de-DE" sz="1800" b="1" dirty="0"/>
              <a:t> </a:t>
            </a:r>
            <a:r>
              <a:rPr lang="de-DE" sz="1800" b="1" dirty="0" err="1"/>
              <a:t>elites</a:t>
            </a:r>
            <a:r>
              <a:rPr lang="de-DE" sz="1800" b="1" dirty="0"/>
              <a:t> </a:t>
            </a:r>
            <a:r>
              <a:rPr lang="de-DE" sz="1800" dirty="0"/>
              <a:t>and, </a:t>
            </a:r>
            <a:r>
              <a:rPr lang="de-DE" sz="1800" dirty="0" err="1"/>
              <a:t>through</a:t>
            </a:r>
            <a:r>
              <a:rPr lang="de-DE" sz="1800" dirty="0"/>
              <a:t> </a:t>
            </a:r>
            <a:r>
              <a:rPr lang="de-DE" sz="1800" dirty="0" err="1"/>
              <a:t>selection</a:t>
            </a:r>
            <a:r>
              <a:rPr lang="de-DE" sz="1800" dirty="0"/>
              <a:t> and </a:t>
            </a:r>
            <a:r>
              <a:rPr lang="de-DE" sz="1800" dirty="0" err="1"/>
              <a:t>priming</a:t>
            </a:r>
            <a:r>
              <a:rPr lang="de-DE" sz="1800" dirty="0"/>
              <a:t>, </a:t>
            </a:r>
            <a:r>
              <a:rPr lang="de-DE" sz="1800" dirty="0" err="1"/>
              <a:t>determine</a:t>
            </a:r>
            <a:r>
              <a:rPr lang="de-DE" sz="1800" dirty="0"/>
              <a:t> </a:t>
            </a:r>
            <a:r>
              <a:rPr lang="de-DE" sz="1800" dirty="0" err="1"/>
              <a:t>which</a:t>
            </a:r>
            <a:r>
              <a:rPr lang="de-DE" sz="1800" dirty="0"/>
              <a:t> </a:t>
            </a:r>
            <a:r>
              <a:rPr lang="de-DE" sz="1800" dirty="0" err="1"/>
              <a:t>information</a:t>
            </a:r>
            <a:r>
              <a:rPr lang="de-DE" sz="1800" dirty="0"/>
              <a:t> </a:t>
            </a:r>
            <a:r>
              <a:rPr lang="de-DE" sz="1800" dirty="0" err="1"/>
              <a:t>reaches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electorate</a:t>
            </a:r>
            <a:r>
              <a:rPr lang="de-DE" sz="1800" dirty="0"/>
              <a:t> and </a:t>
            </a:r>
            <a:r>
              <a:rPr lang="de-DE" sz="1800" dirty="0" err="1"/>
              <a:t>how</a:t>
            </a:r>
            <a:r>
              <a:rPr lang="de-DE" sz="1800" dirty="0"/>
              <a:t> </a:t>
            </a:r>
            <a:r>
              <a:rPr lang="de-DE" sz="1800" dirty="0" err="1"/>
              <a:t>it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presented</a:t>
            </a:r>
            <a:r>
              <a:rPr lang="de-DE" sz="1800" dirty="0"/>
              <a:t> .</a:t>
            </a:r>
          </a:p>
          <a:p>
            <a:pPr lvl="1"/>
            <a:r>
              <a:rPr lang="de-DE" dirty="0"/>
              <a:t>(</a:t>
            </a:r>
            <a:r>
              <a:rPr lang="de-DE" dirty="0" err="1"/>
              <a:t>Zaller</a:t>
            </a:r>
            <a:r>
              <a:rPr lang="de-DE" dirty="0"/>
              <a:t> 1992 and 1999; Iyengar and Kinder 1987; </a:t>
            </a:r>
            <a:r>
              <a:rPr lang="de-DE" dirty="0" err="1"/>
              <a:t>McCombs</a:t>
            </a:r>
            <a:r>
              <a:rPr lang="de-DE" dirty="0"/>
              <a:t> and Shaw 1972).</a:t>
            </a:r>
          </a:p>
          <a:p>
            <a:pPr marL="0" indent="0">
              <a:buNone/>
            </a:pPr>
            <a:r>
              <a:rPr lang="de-DE" sz="1800" dirty="0"/>
              <a:t>→ The </a:t>
            </a:r>
            <a:r>
              <a:rPr lang="de-DE" sz="1800" dirty="0" err="1"/>
              <a:t>quality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b="1" dirty="0" err="1"/>
              <a:t>democratic</a:t>
            </a:r>
            <a:r>
              <a:rPr lang="de-DE" sz="1800" b="1" dirty="0"/>
              <a:t> </a:t>
            </a:r>
            <a:r>
              <a:rPr lang="de-DE" sz="1800" b="1" dirty="0" err="1"/>
              <a:t>accountability</a:t>
            </a:r>
            <a:r>
              <a:rPr lang="de-DE" sz="1800" b="1" dirty="0"/>
              <a:t> </a:t>
            </a:r>
            <a:r>
              <a:rPr lang="de-DE" sz="1800" dirty="0" err="1"/>
              <a:t>therefore</a:t>
            </a:r>
            <a:r>
              <a:rPr lang="de-DE" sz="1800" dirty="0"/>
              <a:t> </a:t>
            </a:r>
            <a:r>
              <a:rPr lang="de-DE" sz="1800" dirty="0" err="1"/>
              <a:t>depends</a:t>
            </a:r>
            <a:r>
              <a:rPr lang="de-DE" sz="1800" dirty="0"/>
              <a:t> </a:t>
            </a:r>
            <a:r>
              <a:rPr lang="de-DE" sz="1800" dirty="0" err="1"/>
              <a:t>crucially</a:t>
            </a:r>
            <a:r>
              <a:rPr lang="de-DE" sz="1800" dirty="0"/>
              <a:t> on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quality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b="1" dirty="0" err="1"/>
              <a:t>media</a:t>
            </a:r>
            <a:r>
              <a:rPr lang="de-DE" sz="1800" b="1" dirty="0"/>
              <a:t> </a:t>
            </a:r>
            <a:r>
              <a:rPr lang="de-DE" sz="1800" b="1" dirty="0" err="1"/>
              <a:t>institutions</a:t>
            </a:r>
            <a:r>
              <a:rPr lang="de-DE" sz="1800" dirty="0"/>
              <a:t>.</a:t>
            </a:r>
          </a:p>
          <a:p>
            <a:pPr marL="0" indent="0">
              <a:buNone/>
            </a:pPr>
            <a:endParaRPr lang="de-DE" sz="1800" dirty="0"/>
          </a:p>
          <a:p>
            <a:pPr marL="0" indent="0">
              <a:buNone/>
            </a:pPr>
            <a:r>
              <a:rPr lang="de-DE" sz="2000" b="1" dirty="0"/>
              <a:t>This </a:t>
            </a:r>
            <a:r>
              <a:rPr lang="de-DE" sz="2000" b="1" dirty="0" err="1"/>
              <a:t>study</a:t>
            </a:r>
            <a:r>
              <a:rPr lang="de-DE" sz="2000" b="1" dirty="0"/>
              <a:t> </a:t>
            </a:r>
            <a:r>
              <a:rPr lang="de-DE" sz="2000" b="1" dirty="0" err="1"/>
              <a:t>makes</a:t>
            </a:r>
            <a:r>
              <a:rPr lang="de-DE" sz="2000" b="1" dirty="0"/>
              <a:t> </a:t>
            </a:r>
            <a:r>
              <a:rPr lang="de-DE" sz="2000" b="1" dirty="0" err="1"/>
              <a:t>several</a:t>
            </a:r>
            <a:r>
              <a:rPr lang="de-DE" sz="2000" b="1" dirty="0"/>
              <a:t> </a:t>
            </a:r>
            <a:r>
              <a:rPr lang="de-DE" sz="2000" b="1" dirty="0" err="1"/>
              <a:t>contributions</a:t>
            </a:r>
            <a:r>
              <a:rPr lang="de-DE" sz="2000" b="1" dirty="0"/>
              <a:t>:</a:t>
            </a:r>
          </a:p>
          <a:p>
            <a:r>
              <a:rPr lang="de-DE" sz="1800" b="1" dirty="0"/>
              <a:t>Measurement</a:t>
            </a:r>
            <a:r>
              <a:rPr lang="de-DE" sz="1800" dirty="0"/>
              <a:t>: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my</a:t>
            </a:r>
            <a:r>
              <a:rPr lang="de-DE" sz="1800" dirty="0"/>
              <a:t> </a:t>
            </a:r>
            <a:r>
              <a:rPr lang="de-DE" sz="1800" dirty="0" err="1"/>
              <a:t>knowledge</a:t>
            </a:r>
            <a:r>
              <a:rPr lang="de-DE" sz="1800" dirty="0"/>
              <a:t>, </a:t>
            </a:r>
            <a:r>
              <a:rPr lang="de-DE" sz="1800" dirty="0" err="1"/>
              <a:t>this</a:t>
            </a:r>
            <a:r>
              <a:rPr lang="de-DE" sz="1800" dirty="0"/>
              <a:t> </a:t>
            </a:r>
            <a:r>
              <a:rPr lang="de-DE" sz="1800" dirty="0" err="1"/>
              <a:t>study</a:t>
            </a:r>
            <a:r>
              <a:rPr lang="de-DE" sz="1800" dirty="0"/>
              <a:t> </a:t>
            </a:r>
            <a:r>
              <a:rPr lang="de-DE" sz="1800" dirty="0" err="1"/>
              <a:t>constructs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first</a:t>
            </a:r>
            <a:r>
              <a:rPr lang="de-DE" sz="1800" dirty="0"/>
              <a:t> </a:t>
            </a:r>
            <a:r>
              <a:rPr lang="de-DE" sz="1800" dirty="0" err="1"/>
              <a:t>comprehensive</a:t>
            </a:r>
            <a:r>
              <a:rPr lang="de-DE" sz="1800" dirty="0"/>
              <a:t> </a:t>
            </a:r>
            <a:r>
              <a:rPr lang="de-DE" sz="1800" b="1" dirty="0" err="1"/>
              <a:t>dataset</a:t>
            </a:r>
            <a:r>
              <a:rPr lang="de-DE" sz="1800" b="1" dirty="0"/>
              <a:t> on </a:t>
            </a:r>
            <a:r>
              <a:rPr lang="de-DE" sz="1800" b="1" dirty="0" err="1"/>
              <a:t>special</a:t>
            </a:r>
            <a:r>
              <a:rPr lang="de-DE" sz="1800" b="1" dirty="0"/>
              <a:t> </a:t>
            </a:r>
            <a:r>
              <a:rPr lang="de-DE" sz="1800" b="1" dirty="0" err="1"/>
              <a:t>elections</a:t>
            </a:r>
            <a:r>
              <a:rPr lang="de-DE" sz="1800" b="1" dirty="0"/>
              <a:t> and </a:t>
            </a:r>
            <a:r>
              <a:rPr lang="de-DE" sz="1800" b="1" dirty="0" err="1"/>
              <a:t>vacancies</a:t>
            </a:r>
            <a:r>
              <a:rPr lang="de-DE" sz="1800" dirty="0"/>
              <a:t> and </a:t>
            </a:r>
            <a:r>
              <a:rPr lang="de-DE" sz="1800" dirty="0" err="1"/>
              <a:t>highlights</a:t>
            </a:r>
            <a:r>
              <a:rPr lang="de-DE" sz="1800" dirty="0"/>
              <a:t> </a:t>
            </a:r>
            <a:r>
              <a:rPr lang="de-DE" sz="1800" dirty="0" err="1"/>
              <a:t>measurement</a:t>
            </a:r>
            <a:r>
              <a:rPr lang="de-DE" sz="1800" dirty="0"/>
              <a:t> </a:t>
            </a:r>
            <a:r>
              <a:rPr lang="de-DE" sz="1800" dirty="0" err="1"/>
              <a:t>inconsistencies</a:t>
            </a:r>
            <a:r>
              <a:rPr lang="de-DE" sz="1800" dirty="0"/>
              <a:t> in </a:t>
            </a:r>
            <a:r>
              <a:rPr lang="de-DE" sz="1800" dirty="0" err="1"/>
              <a:t>existing</a:t>
            </a:r>
            <a:r>
              <a:rPr lang="de-DE" sz="1800" dirty="0"/>
              <a:t> and </a:t>
            </a:r>
            <a:r>
              <a:rPr lang="de-DE" sz="1800" dirty="0" err="1"/>
              <a:t>widely</a:t>
            </a:r>
            <a:r>
              <a:rPr lang="de-DE" sz="1800" dirty="0"/>
              <a:t> </a:t>
            </a:r>
            <a:r>
              <a:rPr lang="de-DE" sz="1800" dirty="0" err="1"/>
              <a:t>used</a:t>
            </a:r>
            <a:r>
              <a:rPr lang="de-DE" sz="1800" dirty="0"/>
              <a:t> </a:t>
            </a:r>
            <a:r>
              <a:rPr lang="de-DE" sz="1800" dirty="0" err="1"/>
              <a:t>datasets</a:t>
            </a:r>
            <a:r>
              <a:rPr lang="de-DE" sz="1800" dirty="0"/>
              <a:t>.</a:t>
            </a:r>
          </a:p>
          <a:p>
            <a:r>
              <a:rPr lang="de-DE" sz="1800" b="1" dirty="0"/>
              <a:t>Measurement</a:t>
            </a:r>
            <a:r>
              <a:rPr lang="de-DE" sz="1800" dirty="0"/>
              <a:t>: The </a:t>
            </a:r>
            <a:r>
              <a:rPr lang="de-DE" sz="1800" dirty="0" err="1"/>
              <a:t>study</a:t>
            </a:r>
            <a:r>
              <a:rPr lang="de-DE" sz="1800" dirty="0"/>
              <a:t> also </a:t>
            </a:r>
            <a:r>
              <a:rPr lang="de-DE" sz="1800" dirty="0" err="1"/>
              <a:t>shows</a:t>
            </a:r>
            <a:r>
              <a:rPr lang="de-DE" sz="1800" dirty="0"/>
              <a:t> </a:t>
            </a:r>
            <a:r>
              <a:rPr lang="de-DE" sz="1800" dirty="0" err="1"/>
              <a:t>under</a:t>
            </a:r>
            <a:r>
              <a:rPr lang="de-DE" sz="1800" dirty="0"/>
              <a:t> </a:t>
            </a:r>
            <a:r>
              <a:rPr lang="de-DE" sz="1800" dirty="0" err="1"/>
              <a:t>which</a:t>
            </a:r>
            <a:r>
              <a:rPr lang="de-DE" sz="1800" dirty="0"/>
              <a:t> </a:t>
            </a:r>
            <a:r>
              <a:rPr lang="de-DE" sz="1800" dirty="0" err="1"/>
              <a:t>conditions</a:t>
            </a:r>
            <a:r>
              <a:rPr lang="de-DE" sz="1800" dirty="0"/>
              <a:t> </a:t>
            </a:r>
            <a:r>
              <a:rPr lang="de-DE" sz="1800" b="1" dirty="0" err="1"/>
              <a:t>special</a:t>
            </a:r>
            <a:r>
              <a:rPr lang="de-DE" sz="1800" b="1" dirty="0"/>
              <a:t> </a:t>
            </a:r>
            <a:r>
              <a:rPr lang="de-DE" sz="1800" b="1" dirty="0" err="1"/>
              <a:t>elections</a:t>
            </a:r>
            <a:r>
              <a:rPr lang="de-DE" sz="1800" b="1" dirty="0"/>
              <a:t> </a:t>
            </a:r>
            <a:r>
              <a:rPr lang="de-DE" sz="1800" b="1" dirty="0" err="1"/>
              <a:t>can</a:t>
            </a:r>
            <a:r>
              <a:rPr lang="de-DE" sz="1800" b="1" dirty="0"/>
              <a:t> </a:t>
            </a:r>
            <a:r>
              <a:rPr lang="de-DE" sz="1800" b="1" dirty="0" err="1"/>
              <a:t>be</a:t>
            </a:r>
            <a:r>
              <a:rPr lang="de-DE" sz="1800" b="1" dirty="0"/>
              <a:t> </a:t>
            </a:r>
            <a:r>
              <a:rPr lang="de-DE" sz="1800" b="1" dirty="0" err="1"/>
              <a:t>interpreted</a:t>
            </a:r>
            <a:r>
              <a:rPr lang="de-DE" sz="1800" b="1" dirty="0"/>
              <a:t> </a:t>
            </a:r>
            <a:r>
              <a:rPr lang="de-DE" sz="1800" b="1" dirty="0" err="1"/>
              <a:t>as</a:t>
            </a:r>
            <a:r>
              <a:rPr lang="de-DE" sz="1800" b="1" dirty="0"/>
              <a:t> an </a:t>
            </a:r>
            <a:r>
              <a:rPr lang="de-DE" sz="1800" b="1" dirty="0" err="1"/>
              <a:t>exogenous</a:t>
            </a:r>
            <a:r>
              <a:rPr lang="de-DE" sz="1800" b="1" dirty="0"/>
              <a:t> </a:t>
            </a:r>
            <a:r>
              <a:rPr lang="de-DE" sz="1800" b="1" dirty="0" err="1"/>
              <a:t>shock</a:t>
            </a:r>
            <a:r>
              <a:rPr lang="de-DE" sz="1800" b="1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political</a:t>
            </a:r>
            <a:r>
              <a:rPr lang="de-DE" sz="1800" dirty="0"/>
              <a:t> </a:t>
            </a:r>
            <a:r>
              <a:rPr lang="de-DE" sz="1800" dirty="0" err="1"/>
              <a:t>agenda</a:t>
            </a:r>
            <a:r>
              <a:rPr lang="de-DE" sz="1800" dirty="0"/>
              <a:t>.</a:t>
            </a:r>
          </a:p>
          <a:p>
            <a:r>
              <a:rPr lang="de-DE" sz="1800" dirty="0"/>
              <a:t>As an illustrative </a:t>
            </a:r>
            <a:r>
              <a:rPr lang="de-DE" sz="1800" dirty="0" err="1"/>
              <a:t>application</a:t>
            </a:r>
            <a:r>
              <a:rPr lang="de-DE" sz="1800" dirty="0"/>
              <a:t>,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study</a:t>
            </a:r>
            <a:r>
              <a:rPr lang="de-DE" sz="1800" dirty="0"/>
              <a:t> </a:t>
            </a:r>
            <a:r>
              <a:rPr lang="de-DE" sz="1800" dirty="0" err="1"/>
              <a:t>analyzes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effect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political</a:t>
            </a:r>
            <a:r>
              <a:rPr lang="de-DE" sz="1800" dirty="0"/>
              <a:t> </a:t>
            </a:r>
            <a:r>
              <a:rPr lang="de-DE" sz="1800" dirty="0" err="1"/>
              <a:t>intensity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a </a:t>
            </a:r>
            <a:r>
              <a:rPr lang="de-DE" sz="1800" dirty="0" err="1"/>
              <a:t>special</a:t>
            </a:r>
            <a:r>
              <a:rPr lang="de-DE" sz="1800" dirty="0"/>
              <a:t> </a:t>
            </a:r>
            <a:r>
              <a:rPr lang="de-DE" sz="1800" dirty="0" err="1"/>
              <a:t>election</a:t>
            </a:r>
            <a:r>
              <a:rPr lang="de-DE" sz="1800" dirty="0"/>
              <a:t> on </a:t>
            </a:r>
            <a:r>
              <a:rPr lang="de-DE" sz="1800" dirty="0" err="1"/>
              <a:t>media</a:t>
            </a:r>
            <a:r>
              <a:rPr lang="de-DE" sz="1800" dirty="0"/>
              <a:t> </a:t>
            </a:r>
            <a:r>
              <a:rPr lang="de-DE" sz="1800" dirty="0" err="1"/>
              <a:t>coverage</a:t>
            </a:r>
            <a:r>
              <a:rPr lang="de-DE" sz="1800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D66D5D2-120A-1441-95DE-E709944E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BF041-B236-0744-8904-CCF3063F9BFB}" type="datetime1">
              <a:rPr lang="de-DE" smtClean="0"/>
              <a:t>08.03.26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9697F3-94AD-E70C-3D73-CAC56120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8DF9-8FF6-4BA5-BC52-5FB4772E2292}" type="slidenum">
              <a:rPr lang="de-DE" smtClean="0"/>
              <a:t>2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EAC7EA6-4D74-C125-1CA8-68258A3E35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18866FA-21B6-0919-FB19-4A91099C0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A3F847E-7821-B677-790D-650FA59CE4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80D9CE68-0EB7-C6CE-3B5E-BA8218A1BF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6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8C8847C-74C7-258B-4282-BB40BF688B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43A3D15-0AD1-61B8-770E-9F720A0F40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489CA2B-0BD1-0D43-B32A-944786A35D6D}" type="datetime1">
              <a:rPr lang="de-DE" smtClean="0"/>
              <a:t>08.03.26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E7928D-04CA-D3C4-31E7-719624CB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8DF9-8FF6-4BA5-BC52-5FB4772E2292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55A01C2-B80B-E699-420A-B0CA81C5EB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77B33B0-5A25-7880-8BC8-8632D5F1A1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3FC0D7A-F6A2-66F3-B872-ACF671276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and Hypotheses</a:t>
            </a:r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E25FAED2-239A-B4AB-39A6-79AD7A81C4EC}"/>
              </a:ext>
            </a:extLst>
          </p:cNvPr>
          <p:cNvSpPr txBox="1">
            <a:spLocks/>
          </p:cNvSpPr>
          <p:nvPr/>
        </p:nvSpPr>
        <p:spPr>
          <a:xfrm>
            <a:off x="695474" y="1628775"/>
            <a:ext cx="10801201" cy="4680546"/>
          </a:xfrm>
          <a:prstGeom prst="rect">
            <a:avLst/>
          </a:prstGeom>
        </p:spPr>
        <p:txBody>
          <a:bodyPr/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2400" dirty="0"/>
          </a:p>
          <a:p>
            <a:pPr marL="0" indent="0">
              <a:buNone/>
            </a:pPr>
            <a:r>
              <a:rPr lang="de-DE" sz="2000" b="1" dirty="0"/>
              <a:t>Research Question</a:t>
            </a:r>
            <a:r>
              <a:rPr lang="de-DE" sz="2000" dirty="0"/>
              <a:t>:</a:t>
            </a:r>
          </a:p>
          <a:p>
            <a:r>
              <a:rPr lang="de-DE" sz="1800" dirty="0" err="1"/>
              <a:t>What</a:t>
            </a:r>
            <a:r>
              <a:rPr lang="de-DE" sz="1800" dirty="0"/>
              <a:t> </a:t>
            </a:r>
            <a:r>
              <a:rPr lang="de-DE" sz="1800" dirty="0" err="1"/>
              <a:t>influence</a:t>
            </a:r>
            <a:r>
              <a:rPr lang="de-DE" sz="1800" dirty="0"/>
              <a:t> </a:t>
            </a:r>
            <a:r>
              <a:rPr lang="de-DE" sz="1800" dirty="0" err="1"/>
              <a:t>does</a:t>
            </a:r>
            <a:r>
              <a:rPr lang="de-DE" sz="1800" dirty="0"/>
              <a:t> </a:t>
            </a:r>
            <a:r>
              <a:rPr lang="de-DE" sz="1800" dirty="0" err="1"/>
              <a:t>political</a:t>
            </a:r>
            <a:r>
              <a:rPr lang="de-DE" sz="1800" dirty="0"/>
              <a:t> </a:t>
            </a:r>
            <a:r>
              <a:rPr lang="de-DE" sz="1800" dirty="0" err="1"/>
              <a:t>intensity</a:t>
            </a:r>
            <a:r>
              <a:rPr lang="de-DE" sz="1800" dirty="0"/>
              <a:t> </a:t>
            </a:r>
            <a:r>
              <a:rPr lang="de-DE" sz="1800" dirty="0" err="1"/>
              <a:t>have</a:t>
            </a:r>
            <a:r>
              <a:rPr lang="de-DE" sz="1800" dirty="0"/>
              <a:t> on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media‘s</a:t>
            </a:r>
            <a:r>
              <a:rPr lang="de-DE" sz="1800" dirty="0"/>
              <a:t> </a:t>
            </a:r>
            <a:r>
              <a:rPr lang="de-DE" sz="1800" dirty="0" err="1"/>
              <a:t>behavior</a:t>
            </a:r>
            <a:r>
              <a:rPr lang="de-DE" sz="1800" dirty="0"/>
              <a:t>?</a:t>
            </a:r>
          </a:p>
          <a:p>
            <a:r>
              <a:rPr lang="de-DE" sz="1800" dirty="0" err="1"/>
              <a:t>What</a:t>
            </a:r>
            <a:r>
              <a:rPr lang="de-DE" sz="1800" dirty="0"/>
              <a:t> </a:t>
            </a:r>
            <a:r>
              <a:rPr lang="de-DE" sz="1800" dirty="0" err="1"/>
              <a:t>influence</a:t>
            </a:r>
            <a:r>
              <a:rPr lang="de-DE" sz="1800" dirty="0"/>
              <a:t> do </a:t>
            </a:r>
            <a:r>
              <a:rPr lang="de-DE" sz="1800" dirty="0" err="1"/>
              <a:t>special</a:t>
            </a:r>
            <a:r>
              <a:rPr lang="de-DE" sz="1800" dirty="0"/>
              <a:t> </a:t>
            </a:r>
            <a:r>
              <a:rPr lang="de-DE" sz="1800" dirty="0" err="1"/>
              <a:t>elections</a:t>
            </a:r>
            <a:r>
              <a:rPr lang="de-DE" sz="1800" dirty="0"/>
              <a:t> in </a:t>
            </a:r>
            <a:r>
              <a:rPr lang="de-DE" sz="1800" dirty="0" err="1"/>
              <a:t>the</a:t>
            </a:r>
            <a:r>
              <a:rPr lang="de-DE" sz="1800" dirty="0"/>
              <a:t> United States </a:t>
            </a:r>
            <a:r>
              <a:rPr lang="de-DE" sz="1800" dirty="0" err="1"/>
              <a:t>have</a:t>
            </a:r>
            <a:r>
              <a:rPr lang="de-DE" sz="1800" dirty="0"/>
              <a:t> on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slant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media</a:t>
            </a:r>
            <a:r>
              <a:rPr lang="de-DE" sz="1800" dirty="0"/>
              <a:t> </a:t>
            </a:r>
            <a:r>
              <a:rPr lang="de-DE" sz="1800" dirty="0" err="1"/>
              <a:t>coverage</a:t>
            </a:r>
            <a:r>
              <a:rPr lang="de-DE" sz="1800" dirty="0"/>
              <a:t>?</a:t>
            </a:r>
          </a:p>
          <a:p>
            <a:endParaRPr lang="de-DE" sz="2400" dirty="0"/>
          </a:p>
          <a:p>
            <a:pPr marL="0" indent="0">
              <a:buNone/>
            </a:pPr>
            <a:r>
              <a:rPr lang="de-DE" sz="2000" b="1" dirty="0" err="1"/>
              <a:t>Hypotheses</a:t>
            </a:r>
            <a:r>
              <a:rPr lang="de-DE" sz="2000" b="1" dirty="0"/>
              <a:t>:</a:t>
            </a:r>
            <a:r>
              <a:rPr lang="de-DE" sz="2000" dirty="0"/>
              <a:t> </a:t>
            </a:r>
          </a:p>
          <a:p>
            <a:r>
              <a:rPr lang="de-DE" sz="1800" b="1" dirty="0"/>
              <a:t>H1</a:t>
            </a:r>
            <a:r>
              <a:rPr lang="de-DE" sz="1800" dirty="0"/>
              <a:t>: In </a:t>
            </a:r>
            <a:r>
              <a:rPr lang="de-DE" sz="1800" dirty="0" err="1"/>
              <a:t>times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stronger</a:t>
            </a:r>
            <a:r>
              <a:rPr lang="de-DE" sz="1800" dirty="0"/>
              <a:t> </a:t>
            </a:r>
            <a:r>
              <a:rPr lang="de-DE" sz="1800" dirty="0" err="1"/>
              <a:t>political</a:t>
            </a:r>
            <a:r>
              <a:rPr lang="de-DE" sz="1800" dirty="0"/>
              <a:t> </a:t>
            </a:r>
            <a:r>
              <a:rPr lang="de-DE" sz="1800" dirty="0" err="1"/>
              <a:t>competition</a:t>
            </a:r>
            <a:r>
              <a:rPr lang="de-DE" sz="1800" dirty="0"/>
              <a:t>,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number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political</a:t>
            </a:r>
            <a:r>
              <a:rPr lang="de-DE" sz="1800" dirty="0"/>
              <a:t> </a:t>
            </a:r>
            <a:r>
              <a:rPr lang="de-DE" sz="1800" dirty="0" err="1"/>
              <a:t>articles</a:t>
            </a:r>
            <a:r>
              <a:rPr lang="de-DE" sz="1800" dirty="0"/>
              <a:t> </a:t>
            </a:r>
            <a:r>
              <a:rPr lang="de-DE" sz="1800" dirty="0" err="1"/>
              <a:t>increases</a:t>
            </a:r>
            <a:r>
              <a:rPr lang="de-DE" sz="1800" dirty="0"/>
              <a:t>.</a:t>
            </a:r>
          </a:p>
          <a:p>
            <a:r>
              <a:rPr lang="de-DE" sz="1800" b="1" dirty="0"/>
              <a:t>H2</a:t>
            </a:r>
            <a:r>
              <a:rPr lang="de-DE" sz="1800" dirty="0"/>
              <a:t>: In </a:t>
            </a:r>
            <a:r>
              <a:rPr lang="de-DE" sz="1800" dirty="0" err="1"/>
              <a:t>times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stronger</a:t>
            </a:r>
            <a:r>
              <a:rPr lang="de-DE" sz="1800" dirty="0"/>
              <a:t> </a:t>
            </a:r>
            <a:r>
              <a:rPr lang="de-DE" sz="1800" dirty="0" err="1"/>
              <a:t>political</a:t>
            </a:r>
            <a:r>
              <a:rPr lang="de-DE" sz="1800" dirty="0"/>
              <a:t> </a:t>
            </a:r>
            <a:r>
              <a:rPr lang="de-DE" sz="1800" dirty="0" err="1"/>
              <a:t>competition</a:t>
            </a:r>
            <a:r>
              <a:rPr lang="de-DE" sz="1800" dirty="0"/>
              <a:t>, internal </a:t>
            </a:r>
            <a:r>
              <a:rPr lang="de-DE" sz="1800" dirty="0" err="1"/>
              <a:t>political</a:t>
            </a:r>
            <a:r>
              <a:rPr lang="de-DE" sz="1800" dirty="0"/>
              <a:t> </a:t>
            </a:r>
            <a:r>
              <a:rPr lang="de-DE" sz="1800" dirty="0" err="1"/>
              <a:t>pluralism</a:t>
            </a:r>
            <a:r>
              <a:rPr lang="de-DE" sz="1800" dirty="0"/>
              <a:t> in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media</a:t>
            </a:r>
            <a:r>
              <a:rPr lang="de-DE" sz="1800" dirty="0"/>
              <a:t> </a:t>
            </a:r>
            <a:r>
              <a:rPr lang="de-DE" sz="1800" dirty="0" err="1"/>
              <a:t>decreases</a:t>
            </a:r>
            <a:r>
              <a:rPr lang="de-DE" sz="1800" dirty="0"/>
              <a:t>, </a:t>
            </a:r>
            <a:r>
              <a:rPr lang="de-DE" sz="1800" dirty="0" err="1"/>
              <a:t>thereby</a:t>
            </a:r>
            <a:r>
              <a:rPr lang="de-DE" sz="1800" dirty="0"/>
              <a:t> </a:t>
            </a:r>
            <a:r>
              <a:rPr lang="de-DE" sz="1800" dirty="0" err="1"/>
              <a:t>increasing</a:t>
            </a:r>
            <a:r>
              <a:rPr lang="de-DE" sz="1800" dirty="0"/>
              <a:t> </a:t>
            </a:r>
            <a:r>
              <a:rPr lang="de-DE" sz="1800" dirty="0" err="1"/>
              <a:t>political</a:t>
            </a:r>
            <a:r>
              <a:rPr lang="de-DE" sz="1800" dirty="0"/>
              <a:t> </a:t>
            </a:r>
            <a:r>
              <a:rPr lang="de-DE" sz="1800" dirty="0" err="1"/>
              <a:t>bias</a:t>
            </a:r>
            <a:r>
              <a:rPr lang="de-DE" sz="1800" dirty="0"/>
              <a:t>.</a:t>
            </a:r>
          </a:p>
          <a:p>
            <a:endParaRPr lang="de-DE" sz="2400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1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032A62-8E0C-CFBE-6F08-B16BA649C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and Mechanism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C602540-EF82-76AE-106F-2E340C92A8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D10FC6-8E85-3485-DA44-4A8169C0C4B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03F817C-A8D9-B842-A384-556024F52801}" type="datetime1">
              <a:rPr lang="de-DE" smtClean="0"/>
              <a:t>08.03.26</a:t>
            </a:fld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9A99079-DD75-C20A-FC53-00D8F0ABB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8DF9-8FF6-4BA5-BC52-5FB4772E2292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2716AE5B-EE7B-6DFD-9EE8-0DDAC02C35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02553B4-0090-96B8-CF0F-3536B34E10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F1629D12-66B7-A879-DB52-2715C21A2584}"/>
              </a:ext>
            </a:extLst>
          </p:cNvPr>
          <p:cNvSpPr txBox="1">
            <a:spLocks/>
          </p:cNvSpPr>
          <p:nvPr/>
        </p:nvSpPr>
        <p:spPr>
          <a:xfrm>
            <a:off x="705638" y="1628775"/>
            <a:ext cx="10801201" cy="4680521"/>
          </a:xfrm>
          <a:prstGeom prst="rect">
            <a:avLst/>
          </a:prstGeom>
        </p:spPr>
        <p:txBody>
          <a:bodyPr/>
          <a:lstStyle>
            <a:lvl1pPr marL="27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 b="1" dirty="0"/>
              <a:t>Demand-</a:t>
            </a:r>
            <a:r>
              <a:rPr lang="de-DE" sz="1800" b="1" dirty="0" err="1"/>
              <a:t>side</a:t>
            </a:r>
            <a:r>
              <a:rPr lang="de-DE" sz="1800" b="1" dirty="0"/>
              <a:t>: </a:t>
            </a:r>
            <a:r>
              <a:rPr lang="de-DE" sz="1800" b="1" dirty="0" err="1"/>
              <a:t>Campaigns</a:t>
            </a:r>
            <a:r>
              <a:rPr lang="de-DE" sz="1800" b="1" dirty="0"/>
              <a:t> </a:t>
            </a:r>
            <a:r>
              <a:rPr lang="de-DE" sz="1800" b="1" dirty="0" err="1"/>
              <a:t>increase</a:t>
            </a:r>
            <a:r>
              <a:rPr lang="de-DE" sz="1800" b="1" dirty="0"/>
              <a:t> </a:t>
            </a:r>
            <a:r>
              <a:rPr lang="de-DE" sz="1800" b="1" dirty="0" err="1"/>
              <a:t>demand</a:t>
            </a:r>
            <a:r>
              <a:rPr lang="de-DE" sz="1800" b="1" dirty="0"/>
              <a:t> </a:t>
            </a:r>
            <a:r>
              <a:rPr lang="de-DE" sz="1800" b="1" dirty="0" err="1"/>
              <a:t>for</a:t>
            </a:r>
            <a:r>
              <a:rPr lang="de-DE" sz="1800" b="1" dirty="0"/>
              <a:t> </a:t>
            </a:r>
            <a:r>
              <a:rPr lang="de-DE" sz="1800" b="1" dirty="0" err="1"/>
              <a:t>congenial</a:t>
            </a:r>
            <a:r>
              <a:rPr lang="de-DE" sz="1800" b="1" dirty="0"/>
              <a:t> </a:t>
            </a:r>
            <a:r>
              <a:rPr lang="de-DE" sz="1800" b="1" dirty="0" err="1"/>
              <a:t>information</a:t>
            </a:r>
            <a:endParaRPr lang="de-DE" sz="1800" dirty="0"/>
          </a:p>
          <a:p>
            <a:r>
              <a:rPr lang="de-DE" sz="1800" dirty="0" err="1"/>
              <a:t>Election</a:t>
            </a:r>
            <a:r>
              <a:rPr lang="de-DE" sz="1800" dirty="0"/>
              <a:t> </a:t>
            </a:r>
            <a:r>
              <a:rPr lang="de-DE" sz="1800" dirty="0" err="1"/>
              <a:t>campaigns</a:t>
            </a:r>
            <a:r>
              <a:rPr lang="de-DE" sz="1800" dirty="0"/>
              <a:t> </a:t>
            </a:r>
            <a:r>
              <a:rPr lang="de-DE" sz="1800" dirty="0" err="1"/>
              <a:t>heighten</a:t>
            </a:r>
            <a:r>
              <a:rPr lang="de-DE" sz="1800" dirty="0"/>
              <a:t> </a:t>
            </a:r>
            <a:r>
              <a:rPr lang="de-DE" sz="1800" dirty="0" err="1"/>
              <a:t>partisan</a:t>
            </a:r>
            <a:r>
              <a:rPr lang="de-DE" sz="1800" dirty="0"/>
              <a:t> </a:t>
            </a:r>
            <a:r>
              <a:rPr lang="de-DE" sz="1800" dirty="0" err="1"/>
              <a:t>identity</a:t>
            </a:r>
            <a:r>
              <a:rPr lang="de-DE" sz="1800" dirty="0"/>
              <a:t> and </a:t>
            </a:r>
            <a:r>
              <a:rPr lang="de-DE" sz="1800" dirty="0" err="1"/>
              <a:t>threfore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b="1" dirty="0" err="1"/>
              <a:t>demand</a:t>
            </a:r>
            <a:r>
              <a:rPr lang="de-DE" sz="1800" b="1" dirty="0"/>
              <a:t> </a:t>
            </a:r>
            <a:r>
              <a:rPr lang="de-DE" sz="1800" b="1" dirty="0" err="1"/>
              <a:t>for</a:t>
            </a:r>
            <a:r>
              <a:rPr lang="de-DE" sz="1800" b="1" dirty="0"/>
              <a:t> </a:t>
            </a:r>
            <a:r>
              <a:rPr lang="de-DE" sz="1800" b="1" dirty="0" err="1"/>
              <a:t>attitude-consistent</a:t>
            </a:r>
            <a:r>
              <a:rPr lang="de-DE" sz="1800" b="1" dirty="0"/>
              <a:t> </a:t>
            </a:r>
            <a:r>
              <a:rPr lang="de-DE" sz="1800" b="1" dirty="0" err="1"/>
              <a:t>news</a:t>
            </a:r>
            <a:endParaRPr lang="de-DE" sz="1800" b="1" dirty="0"/>
          </a:p>
          <a:p>
            <a:pPr lvl="1"/>
            <a:r>
              <a:rPr lang="de-DE" dirty="0"/>
              <a:t>Lodge &amp; Taber (2013); </a:t>
            </a:r>
            <a:r>
              <a:rPr lang="de-DE" dirty="0" err="1"/>
              <a:t>Huddy</a:t>
            </a:r>
            <a:r>
              <a:rPr lang="de-DE" dirty="0"/>
              <a:t> &amp; Mason (2015); Mason (2016; 2018); Iyengar &amp; Hahn (2009); Messing &amp; Westwood (2014)</a:t>
            </a:r>
          </a:p>
          <a:p>
            <a:r>
              <a:rPr lang="de-DE" sz="1800" dirty="0"/>
              <a:t>Media </a:t>
            </a:r>
            <a:r>
              <a:rPr lang="de-DE" sz="1800" dirty="0" err="1"/>
              <a:t>outlets</a:t>
            </a:r>
            <a:r>
              <a:rPr lang="de-DE" sz="1800" dirty="0"/>
              <a:t> </a:t>
            </a:r>
            <a:r>
              <a:rPr lang="de-DE" sz="1800" dirty="0" err="1"/>
              <a:t>respond</a:t>
            </a:r>
            <a:r>
              <a:rPr lang="de-DE" sz="1800" dirty="0"/>
              <a:t> </a:t>
            </a:r>
            <a:r>
              <a:rPr lang="de-DE" sz="1800" dirty="0" err="1"/>
              <a:t>strategically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audience</a:t>
            </a:r>
            <a:r>
              <a:rPr lang="de-DE" sz="1800" dirty="0"/>
              <a:t> </a:t>
            </a:r>
            <a:r>
              <a:rPr lang="de-DE" sz="1800" dirty="0" err="1"/>
              <a:t>demand</a:t>
            </a:r>
            <a:r>
              <a:rPr lang="de-DE" sz="1800" dirty="0"/>
              <a:t>; </a:t>
            </a:r>
            <a:r>
              <a:rPr lang="de-DE" sz="1800" b="1" dirty="0" err="1"/>
              <a:t>competition</a:t>
            </a:r>
            <a:r>
              <a:rPr lang="de-DE" sz="1800" b="1" dirty="0"/>
              <a:t> and </a:t>
            </a:r>
            <a:r>
              <a:rPr lang="de-DE" sz="1800" b="1" dirty="0" err="1"/>
              <a:t>confirmatory</a:t>
            </a:r>
            <a:r>
              <a:rPr lang="de-DE" sz="1800" b="1" dirty="0"/>
              <a:t> </a:t>
            </a:r>
            <a:r>
              <a:rPr lang="de-DE" sz="1800" b="1" dirty="0" err="1"/>
              <a:t>preferences</a:t>
            </a:r>
            <a:r>
              <a:rPr lang="de-DE" sz="1800" b="1" dirty="0"/>
              <a:t> shift </a:t>
            </a:r>
            <a:r>
              <a:rPr lang="de-DE" sz="1800" b="1" dirty="0" err="1"/>
              <a:t>outlet</a:t>
            </a:r>
            <a:r>
              <a:rPr lang="de-DE" sz="1800" b="1" dirty="0"/>
              <a:t> </a:t>
            </a:r>
            <a:r>
              <a:rPr lang="de-DE" sz="1800" b="1" dirty="0" err="1"/>
              <a:t>slant</a:t>
            </a:r>
            <a:r>
              <a:rPr lang="de-DE" sz="1800" b="1" dirty="0"/>
              <a:t> </a:t>
            </a:r>
            <a:r>
              <a:rPr lang="de-DE" sz="1800" b="1" dirty="0" err="1"/>
              <a:t>toward</a:t>
            </a:r>
            <a:r>
              <a:rPr lang="de-DE" sz="1800" b="1" dirty="0"/>
              <a:t> </a:t>
            </a:r>
            <a:r>
              <a:rPr lang="de-DE" sz="1800" b="1" dirty="0" err="1"/>
              <a:t>reader</a:t>
            </a:r>
            <a:r>
              <a:rPr lang="de-DE" sz="1800" b="1" dirty="0"/>
              <a:t> beliefs</a:t>
            </a:r>
            <a:r>
              <a:rPr lang="de-DE" sz="1800" dirty="0"/>
              <a:t> and “</a:t>
            </a:r>
            <a:r>
              <a:rPr lang="de-DE" sz="1800" dirty="0" err="1"/>
              <a:t>house</a:t>
            </a:r>
            <a:r>
              <a:rPr lang="de-DE" sz="1800" dirty="0"/>
              <a:t> </a:t>
            </a:r>
            <a:r>
              <a:rPr lang="de-DE" sz="1800" dirty="0" err="1"/>
              <a:t>line</a:t>
            </a:r>
            <a:r>
              <a:rPr lang="de-DE" sz="1800" dirty="0"/>
              <a:t>“.</a:t>
            </a:r>
          </a:p>
          <a:p>
            <a:pPr lvl="1"/>
            <a:r>
              <a:rPr lang="de-DE" dirty="0" err="1"/>
              <a:t>Gentzkow</a:t>
            </a:r>
            <a:r>
              <a:rPr lang="de-DE" dirty="0"/>
              <a:t> &amp; Shapiro (2010); </a:t>
            </a:r>
            <a:r>
              <a:rPr lang="de-DE" dirty="0" err="1"/>
              <a:t>Mullainathan</a:t>
            </a:r>
            <a:r>
              <a:rPr lang="de-DE" dirty="0"/>
              <a:t> &amp; Shleifer (2005)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sz="1800" b="1" dirty="0"/>
              <a:t>Supply-</a:t>
            </a:r>
            <a:r>
              <a:rPr lang="de-DE" sz="1800" b="1" dirty="0" err="1"/>
              <a:t>side</a:t>
            </a:r>
            <a:r>
              <a:rPr lang="de-DE" sz="1800" b="1" dirty="0"/>
              <a:t>: </a:t>
            </a:r>
            <a:r>
              <a:rPr lang="de-DE" sz="1800" b="1" dirty="0" err="1"/>
              <a:t>Campaigns</a:t>
            </a:r>
            <a:r>
              <a:rPr lang="de-DE" sz="1800" b="1" dirty="0"/>
              <a:t> </a:t>
            </a:r>
            <a:r>
              <a:rPr lang="de-DE" sz="1800" b="1" dirty="0" err="1"/>
              <a:t>structure</a:t>
            </a:r>
            <a:r>
              <a:rPr lang="de-DE" sz="1800" b="1" dirty="0"/>
              <a:t> </a:t>
            </a:r>
            <a:r>
              <a:rPr lang="de-DE" sz="1800" b="1" dirty="0" err="1"/>
              <a:t>news</a:t>
            </a:r>
            <a:r>
              <a:rPr lang="de-DE" sz="1800" b="1" dirty="0"/>
              <a:t> </a:t>
            </a:r>
            <a:r>
              <a:rPr lang="de-DE" sz="1800" b="1" dirty="0" err="1"/>
              <a:t>production</a:t>
            </a:r>
            <a:endParaRPr lang="de-DE" sz="1800" dirty="0"/>
          </a:p>
          <a:p>
            <a:r>
              <a:rPr lang="de-DE" sz="1800" dirty="0" err="1"/>
              <a:t>Campaigns</a:t>
            </a:r>
            <a:r>
              <a:rPr lang="de-DE" sz="1800" dirty="0"/>
              <a:t> </a:t>
            </a:r>
            <a:r>
              <a:rPr lang="de-DE" sz="1800" dirty="0" err="1"/>
              <a:t>produce</a:t>
            </a:r>
            <a:r>
              <a:rPr lang="de-DE" sz="1800" dirty="0"/>
              <a:t> a </a:t>
            </a:r>
            <a:r>
              <a:rPr lang="de-DE" sz="1800" dirty="0" err="1"/>
              <a:t>continuous</a:t>
            </a:r>
            <a:r>
              <a:rPr lang="de-DE" sz="1800" dirty="0"/>
              <a:t> </a:t>
            </a:r>
            <a:r>
              <a:rPr lang="de-DE" sz="1800" dirty="0" err="1"/>
              <a:t>flow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ready-made</a:t>
            </a:r>
            <a:r>
              <a:rPr lang="de-DE" sz="1800" dirty="0"/>
              <a:t> </a:t>
            </a:r>
            <a:r>
              <a:rPr lang="de-DE" sz="1800" dirty="0" err="1"/>
              <a:t>political</a:t>
            </a:r>
            <a:r>
              <a:rPr lang="de-DE" sz="1800" dirty="0"/>
              <a:t> </a:t>
            </a:r>
            <a:r>
              <a:rPr lang="de-DE" sz="1800" dirty="0" err="1"/>
              <a:t>content</a:t>
            </a:r>
            <a:r>
              <a:rPr lang="de-DE" sz="1800" dirty="0"/>
              <a:t> (</a:t>
            </a:r>
            <a:r>
              <a:rPr lang="de-DE" sz="1800" dirty="0" err="1"/>
              <a:t>events</a:t>
            </a:r>
            <a:r>
              <a:rPr lang="de-DE" sz="1800" dirty="0"/>
              <a:t>, PR, </a:t>
            </a:r>
            <a:r>
              <a:rPr lang="de-DE" sz="1800" dirty="0" err="1"/>
              <a:t>talking</a:t>
            </a:r>
            <a:r>
              <a:rPr lang="de-DE" sz="1800" dirty="0"/>
              <a:t> </a:t>
            </a:r>
            <a:r>
              <a:rPr lang="de-DE" sz="1800" dirty="0" err="1"/>
              <a:t>points</a:t>
            </a:r>
            <a:r>
              <a:rPr lang="de-DE" sz="1800" dirty="0"/>
              <a:t>), </a:t>
            </a:r>
            <a:r>
              <a:rPr lang="de-DE" sz="1800" dirty="0" err="1"/>
              <a:t>which</a:t>
            </a:r>
            <a:r>
              <a:rPr lang="de-DE" sz="1800" dirty="0"/>
              <a:t> </a:t>
            </a:r>
            <a:r>
              <a:rPr lang="de-DE" sz="1800" b="1" dirty="0" err="1"/>
              <a:t>journalists</a:t>
            </a:r>
            <a:r>
              <a:rPr lang="de-DE" sz="1800" b="1" dirty="0"/>
              <a:t> </a:t>
            </a:r>
            <a:r>
              <a:rPr lang="de-DE" sz="1800" b="1" dirty="0" err="1"/>
              <a:t>adopt</a:t>
            </a:r>
            <a:r>
              <a:rPr lang="de-DE" sz="1800" b="1" dirty="0"/>
              <a:t> </a:t>
            </a:r>
            <a:r>
              <a:rPr lang="de-DE" sz="1800" b="1" dirty="0" err="1"/>
              <a:t>under</a:t>
            </a:r>
            <a:r>
              <a:rPr lang="de-DE" sz="1800" b="1" dirty="0"/>
              <a:t> time and </a:t>
            </a:r>
            <a:r>
              <a:rPr lang="de-DE" sz="1800" b="1" dirty="0" err="1"/>
              <a:t>resource</a:t>
            </a:r>
            <a:r>
              <a:rPr lang="de-DE" sz="1800" b="1" dirty="0"/>
              <a:t> </a:t>
            </a:r>
            <a:r>
              <a:rPr lang="de-DE" sz="1800" b="1" dirty="0" err="1"/>
              <a:t>constraints</a:t>
            </a:r>
            <a:r>
              <a:rPr lang="de-DE" sz="1800" dirty="0"/>
              <a:t>.</a:t>
            </a:r>
          </a:p>
          <a:p>
            <a:pPr lvl="1"/>
            <a:r>
              <a:rPr lang="de-DE" dirty="0"/>
              <a:t>Gans (1979); Shoemaker &amp; Vos (2009)</a:t>
            </a:r>
          </a:p>
          <a:p>
            <a:r>
              <a:rPr lang="de-DE" sz="1800" dirty="0"/>
              <a:t>Political </a:t>
            </a:r>
            <a:r>
              <a:rPr lang="de-DE" sz="1800" dirty="0" err="1"/>
              <a:t>actors</a:t>
            </a:r>
            <a:r>
              <a:rPr lang="de-DE" sz="1800" dirty="0"/>
              <a:t> </a:t>
            </a:r>
            <a:r>
              <a:rPr lang="de-DE" sz="1800" dirty="0" err="1"/>
              <a:t>strategically</a:t>
            </a:r>
            <a:r>
              <a:rPr lang="de-DE" sz="1800" dirty="0"/>
              <a:t> </a:t>
            </a:r>
            <a:r>
              <a:rPr lang="de-DE" sz="1800" dirty="0" err="1"/>
              <a:t>shape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news</a:t>
            </a:r>
            <a:r>
              <a:rPr lang="de-DE" sz="1800" dirty="0"/>
              <a:t> </a:t>
            </a:r>
            <a:r>
              <a:rPr lang="de-DE" sz="1800" dirty="0" err="1"/>
              <a:t>agenda</a:t>
            </a:r>
            <a:r>
              <a:rPr lang="de-DE" sz="1800" dirty="0"/>
              <a:t> </a:t>
            </a:r>
            <a:r>
              <a:rPr lang="de-DE" sz="1800" dirty="0" err="1"/>
              <a:t>through</a:t>
            </a:r>
            <a:r>
              <a:rPr lang="de-DE" sz="1800" dirty="0"/>
              <a:t> </a:t>
            </a:r>
            <a:r>
              <a:rPr lang="de-DE" sz="1800" b="1" dirty="0" err="1"/>
              <a:t>framing</a:t>
            </a:r>
            <a:r>
              <a:rPr lang="de-DE" sz="1800" b="1" dirty="0"/>
              <a:t>, </a:t>
            </a:r>
            <a:r>
              <a:rPr lang="de-DE" sz="1800" b="1" dirty="0" err="1"/>
              <a:t>agenda</a:t>
            </a:r>
            <a:r>
              <a:rPr lang="de-DE" sz="1800" b="1" dirty="0"/>
              <a:t>-setting, and </a:t>
            </a:r>
            <a:r>
              <a:rPr lang="de-DE" sz="1800" b="1" dirty="0" err="1"/>
              <a:t>priming</a:t>
            </a:r>
            <a:r>
              <a:rPr lang="de-DE" sz="1800" dirty="0"/>
              <a:t>.</a:t>
            </a:r>
          </a:p>
          <a:p>
            <a:pPr lvl="1"/>
            <a:r>
              <a:rPr lang="de-DE" dirty="0" err="1"/>
              <a:t>McCombs</a:t>
            </a:r>
            <a:r>
              <a:rPr lang="de-DE" dirty="0"/>
              <a:t> &amp; Shaw (1972); </a:t>
            </a:r>
            <a:r>
              <a:rPr lang="de-DE" dirty="0" err="1"/>
              <a:t>McCombs</a:t>
            </a:r>
            <a:r>
              <a:rPr lang="de-DE" dirty="0"/>
              <a:t> (2004); Iyengar &amp; Kinder (1987); </a:t>
            </a:r>
            <a:r>
              <a:rPr lang="de-DE" dirty="0" err="1"/>
              <a:t>Krosnick</a:t>
            </a:r>
            <a:r>
              <a:rPr lang="de-DE" dirty="0"/>
              <a:t> &amp; Kinder (1990); </a:t>
            </a:r>
            <a:r>
              <a:rPr lang="de-DE" dirty="0" err="1"/>
              <a:t>Aalberg</a:t>
            </a:r>
            <a:r>
              <a:rPr lang="de-DE" dirty="0"/>
              <a:t>, </a:t>
            </a:r>
            <a:r>
              <a:rPr lang="de-DE" dirty="0" err="1"/>
              <a:t>Strömbäck</a:t>
            </a:r>
            <a:r>
              <a:rPr lang="de-DE" dirty="0"/>
              <a:t> &amp; de </a:t>
            </a:r>
            <a:r>
              <a:rPr lang="de-DE" dirty="0" err="1"/>
              <a:t>Vreese</a:t>
            </a:r>
            <a:r>
              <a:rPr lang="de-DE" dirty="0"/>
              <a:t> (2012); de </a:t>
            </a:r>
            <a:r>
              <a:rPr lang="de-DE" dirty="0" err="1"/>
              <a:t>Vreese</a:t>
            </a:r>
            <a:r>
              <a:rPr lang="de-DE" dirty="0"/>
              <a:t> (2005)</a:t>
            </a:r>
          </a:p>
        </p:txBody>
      </p:sp>
    </p:spTree>
    <p:extLst>
      <p:ext uri="{BB962C8B-B14F-4D97-AF65-F5344CB8AC3E}">
        <p14:creationId xmlns:p14="http://schemas.microsoft.com/office/powerpoint/2010/main" val="175808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76D69B2-42A0-D8E2-982A-244C8871D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 b="1" dirty="0"/>
              <a:t>Unit </a:t>
            </a:r>
            <a:r>
              <a:rPr lang="de-DE" sz="1800" b="1" dirty="0" err="1"/>
              <a:t>of</a:t>
            </a:r>
            <a:r>
              <a:rPr lang="de-DE" sz="1800" b="1" dirty="0"/>
              <a:t> </a:t>
            </a:r>
            <a:r>
              <a:rPr lang="de-DE" sz="1800" b="1" dirty="0" err="1"/>
              <a:t>analysis</a:t>
            </a:r>
            <a:r>
              <a:rPr lang="de-DE" sz="1800" dirty="0"/>
              <a:t>: Newspaper </a:t>
            </a:r>
            <a:r>
              <a:rPr lang="de-DE" sz="1800" dirty="0" err="1"/>
              <a:t>articles</a:t>
            </a:r>
            <a:r>
              <a:rPr lang="de-DE" sz="1800" dirty="0"/>
              <a:t> </a:t>
            </a:r>
            <a:r>
              <a:rPr lang="de-DE" sz="1800" dirty="0" err="1"/>
              <a:t>aggregated</a:t>
            </a:r>
            <a:r>
              <a:rPr lang="de-DE" sz="1800" dirty="0"/>
              <a:t> </a:t>
            </a:r>
            <a:r>
              <a:rPr lang="de-DE" sz="1800" dirty="0" err="1"/>
              <a:t>region</a:t>
            </a:r>
            <a:r>
              <a:rPr lang="de-DE" sz="1800" dirty="0"/>
              <a:t> ×</a:t>
            </a:r>
            <a:r>
              <a:rPr lang="de-DE" sz="1800" dirty="0" err="1"/>
              <a:t>week</a:t>
            </a:r>
            <a:r>
              <a:rPr lang="de-DE" sz="1800" dirty="0"/>
              <a:t>; </a:t>
            </a:r>
            <a:r>
              <a:rPr lang="de-DE" sz="1800" dirty="0" err="1"/>
              <a:t>newspaper</a:t>
            </a:r>
            <a:r>
              <a:rPr lang="de-DE" sz="1800" dirty="0"/>
              <a:t> </a:t>
            </a:r>
            <a:r>
              <a:rPr lang="de-DE" sz="1800" dirty="0" err="1"/>
              <a:t>outlet</a:t>
            </a:r>
            <a:r>
              <a:rPr lang="de-DE" sz="1800" dirty="0"/>
              <a:t> x </a:t>
            </a:r>
            <a:r>
              <a:rPr lang="de-DE" sz="1800" dirty="0" err="1"/>
              <a:t>week</a:t>
            </a:r>
            <a:endParaRPr lang="de-DE" sz="1800" dirty="0"/>
          </a:p>
          <a:p>
            <a:r>
              <a:rPr lang="de-DE" sz="1800" b="1" dirty="0" err="1"/>
              <a:t>Period</a:t>
            </a:r>
            <a:r>
              <a:rPr lang="de-DE" sz="1800" b="1" dirty="0"/>
              <a:t> </a:t>
            </a:r>
            <a:r>
              <a:rPr lang="de-DE" sz="1800" b="1" dirty="0" err="1"/>
              <a:t>of</a:t>
            </a:r>
            <a:r>
              <a:rPr lang="de-DE" sz="1800" b="1" dirty="0"/>
              <a:t> </a:t>
            </a:r>
            <a:r>
              <a:rPr lang="de-DE" sz="1800" b="1" dirty="0" err="1"/>
              <a:t>analysis</a:t>
            </a:r>
            <a:r>
              <a:rPr lang="de-DE" sz="1800" dirty="0"/>
              <a:t>: Special </a:t>
            </a:r>
            <a:r>
              <a:rPr lang="de-DE" sz="1800" dirty="0" err="1"/>
              <a:t>elections</a:t>
            </a:r>
            <a:r>
              <a:rPr lang="de-DE" sz="1800" dirty="0"/>
              <a:t>: 1789–2020; Mediaanalysis: 1900–2020</a:t>
            </a:r>
          </a:p>
          <a:p>
            <a:r>
              <a:rPr lang="de-DE" sz="1800" b="1" dirty="0" err="1"/>
              <a:t>Causal</a:t>
            </a:r>
            <a:r>
              <a:rPr lang="de-DE" sz="1800" b="1" dirty="0"/>
              <a:t> </a:t>
            </a:r>
            <a:r>
              <a:rPr lang="de-DE" sz="1800" b="1" dirty="0" err="1"/>
              <a:t>Inference</a:t>
            </a:r>
            <a:r>
              <a:rPr lang="de-DE" sz="1800" dirty="0"/>
              <a:t>: </a:t>
            </a:r>
            <a:r>
              <a:rPr lang="de-DE" sz="1800" dirty="0" err="1"/>
              <a:t>Difference</a:t>
            </a:r>
            <a:r>
              <a:rPr lang="de-DE" sz="1800" dirty="0"/>
              <a:t>-in-</a:t>
            </a:r>
            <a:r>
              <a:rPr lang="de-DE" sz="1800" dirty="0" err="1"/>
              <a:t>Difference</a:t>
            </a:r>
            <a:r>
              <a:rPr lang="de-DE" sz="1800" dirty="0"/>
              <a:t>/Event-Study</a:t>
            </a:r>
          </a:p>
          <a:p>
            <a:pPr lvl="1"/>
            <a:r>
              <a:rPr lang="de-DE" sz="1800" b="1" dirty="0" err="1"/>
              <a:t>Treated</a:t>
            </a:r>
            <a:r>
              <a:rPr lang="de-DE" sz="1800" dirty="0"/>
              <a:t> = Special </a:t>
            </a:r>
            <a:r>
              <a:rPr lang="de-DE" sz="1800" dirty="0" err="1"/>
              <a:t>election</a:t>
            </a:r>
            <a:r>
              <a:rPr lang="de-DE" sz="1800" dirty="0"/>
              <a:t> in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region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headquarter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newspaper</a:t>
            </a:r>
            <a:r>
              <a:rPr lang="de-DE" sz="1800" dirty="0"/>
              <a:t> </a:t>
            </a:r>
            <a:r>
              <a:rPr lang="de-DE" sz="1800" dirty="0" err="1"/>
              <a:t>outlet</a:t>
            </a:r>
            <a:endParaRPr lang="de-DE" sz="1800" dirty="0"/>
          </a:p>
          <a:p>
            <a:pPr lvl="1"/>
            <a:r>
              <a:rPr lang="de-DE" sz="1800" b="1" dirty="0"/>
              <a:t>Control</a:t>
            </a:r>
            <a:r>
              <a:rPr lang="de-DE" sz="1800" dirty="0"/>
              <a:t> = </a:t>
            </a:r>
            <a:r>
              <a:rPr lang="de-DE" sz="1800" dirty="0" err="1"/>
              <a:t>No</a:t>
            </a:r>
            <a:r>
              <a:rPr lang="de-DE" sz="1800" dirty="0"/>
              <a:t> </a:t>
            </a:r>
            <a:r>
              <a:rPr lang="de-DE" sz="1800" dirty="0" err="1"/>
              <a:t>special</a:t>
            </a:r>
            <a:r>
              <a:rPr lang="de-DE" sz="1800" dirty="0"/>
              <a:t> </a:t>
            </a:r>
            <a:r>
              <a:rPr lang="de-DE" sz="1800" dirty="0" err="1"/>
              <a:t>election</a:t>
            </a:r>
            <a:r>
              <a:rPr lang="de-DE" sz="1800" dirty="0"/>
              <a:t> in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region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headquarter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newspaper</a:t>
            </a:r>
            <a:r>
              <a:rPr lang="de-DE" sz="1800" dirty="0"/>
              <a:t> </a:t>
            </a:r>
            <a:r>
              <a:rPr lang="de-DE" sz="1800" dirty="0" err="1"/>
              <a:t>outlet</a:t>
            </a:r>
            <a:endParaRPr lang="de-DE" sz="1800" dirty="0"/>
          </a:p>
          <a:p>
            <a:pPr lvl="1"/>
            <a:r>
              <a:rPr lang="de-DE" sz="1800" b="1" dirty="0" err="1"/>
              <a:t>Assumptions</a:t>
            </a:r>
            <a:r>
              <a:rPr lang="de-DE" sz="1800" b="1" dirty="0"/>
              <a:t> and </a:t>
            </a:r>
            <a:r>
              <a:rPr lang="de-DE" sz="1800" b="1" dirty="0" err="1"/>
              <a:t>Risks</a:t>
            </a:r>
            <a:r>
              <a:rPr lang="de-DE" sz="1800" dirty="0"/>
              <a:t>:</a:t>
            </a:r>
          </a:p>
          <a:p>
            <a:pPr lvl="2"/>
            <a:r>
              <a:rPr lang="de-DE" sz="1800" dirty="0"/>
              <a:t>Parallel Trends </a:t>
            </a:r>
            <a:r>
              <a:rPr lang="de-DE" sz="1800" dirty="0" err="1"/>
              <a:t>Assumption</a:t>
            </a:r>
            <a:r>
              <a:rPr lang="de-DE" sz="1800" dirty="0"/>
              <a:t>: </a:t>
            </a:r>
            <a:r>
              <a:rPr lang="de-DE" sz="1800" dirty="0" err="1"/>
              <a:t>Pre</a:t>
            </a:r>
            <a:r>
              <a:rPr lang="de-DE" sz="1800" dirty="0"/>
              <a:t>-trend </a:t>
            </a:r>
            <a:r>
              <a:rPr lang="de-DE" sz="1800" dirty="0" err="1"/>
              <a:t>test</a:t>
            </a:r>
            <a:endParaRPr lang="de-DE" sz="1800" dirty="0"/>
          </a:p>
          <a:p>
            <a:pPr lvl="2"/>
            <a:r>
              <a:rPr lang="de-DE" sz="1800" dirty="0"/>
              <a:t>SUTVA: </a:t>
            </a:r>
            <a:r>
              <a:rPr lang="de-DE" sz="1800" dirty="0" err="1"/>
              <a:t>Probably</a:t>
            </a:r>
            <a:r>
              <a:rPr lang="de-DE" sz="1800" dirty="0"/>
              <a:t> </a:t>
            </a:r>
            <a:r>
              <a:rPr lang="de-DE" sz="1800" dirty="0" err="1"/>
              <a:t>violated</a:t>
            </a:r>
            <a:r>
              <a:rPr lang="de-DE" sz="1800" dirty="0"/>
              <a:t>. Historical </a:t>
            </a:r>
            <a:r>
              <a:rPr lang="de-DE" sz="1800" dirty="0" err="1"/>
              <a:t>newspaper</a:t>
            </a:r>
            <a:r>
              <a:rPr lang="de-DE" sz="1800" dirty="0"/>
              <a:t> </a:t>
            </a:r>
            <a:r>
              <a:rPr lang="de-DE" sz="1800" dirty="0" err="1"/>
              <a:t>outlets</a:t>
            </a:r>
            <a:r>
              <a:rPr lang="de-DE" sz="1800" dirty="0"/>
              <a:t> </a:t>
            </a:r>
            <a:r>
              <a:rPr lang="de-DE" sz="1800" dirty="0" err="1"/>
              <a:t>are</a:t>
            </a:r>
            <a:r>
              <a:rPr lang="de-DE" sz="1800" dirty="0"/>
              <a:t> </a:t>
            </a:r>
            <a:r>
              <a:rPr lang="de-DE" sz="1800" dirty="0" err="1"/>
              <a:t>major</a:t>
            </a:r>
            <a:r>
              <a:rPr lang="de-DE" sz="1800" dirty="0"/>
              <a:t> </a:t>
            </a:r>
            <a:r>
              <a:rPr lang="de-DE" sz="1800" dirty="0" err="1"/>
              <a:t>outlets</a:t>
            </a:r>
            <a:r>
              <a:rPr lang="de-DE" sz="1800" dirty="0"/>
              <a:t> </a:t>
            </a:r>
            <a:r>
              <a:rPr lang="de-DE" sz="1800" dirty="0" err="1"/>
              <a:t>with</a:t>
            </a:r>
            <a:r>
              <a:rPr lang="de-DE" sz="1800" dirty="0"/>
              <a:t> </a:t>
            </a:r>
            <a:r>
              <a:rPr lang="de-DE" sz="1800" dirty="0" err="1"/>
              <a:t>readership</a:t>
            </a:r>
            <a:r>
              <a:rPr lang="de-DE" sz="1800" dirty="0"/>
              <a:t> </a:t>
            </a:r>
            <a:r>
              <a:rPr lang="de-DE" sz="1800" dirty="0" err="1"/>
              <a:t>across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entire</a:t>
            </a:r>
            <a:r>
              <a:rPr lang="de-DE" sz="1800" dirty="0"/>
              <a:t> U.S., not </a:t>
            </a:r>
            <a:r>
              <a:rPr lang="de-DE" sz="1800" dirty="0" err="1"/>
              <a:t>only</a:t>
            </a:r>
            <a:r>
              <a:rPr lang="de-DE" sz="1800" dirty="0"/>
              <a:t> </a:t>
            </a:r>
            <a:r>
              <a:rPr lang="de-DE" sz="1800" dirty="0" err="1"/>
              <a:t>regionally</a:t>
            </a:r>
            <a:r>
              <a:rPr lang="de-DE" sz="1800" dirty="0"/>
              <a:t>. An event-</a:t>
            </a:r>
            <a:r>
              <a:rPr lang="de-DE" sz="1800" dirty="0" err="1"/>
              <a:t>study</a:t>
            </a:r>
            <a:r>
              <a:rPr lang="de-DE" sz="1800" dirty="0"/>
              <a:t> design </a:t>
            </a:r>
            <a:r>
              <a:rPr lang="de-DE" sz="1800" dirty="0" err="1"/>
              <a:t>can</a:t>
            </a:r>
            <a:r>
              <a:rPr lang="de-DE" sz="1800" dirty="0"/>
              <a:t> </a:t>
            </a:r>
            <a:r>
              <a:rPr lang="de-DE" sz="1800" dirty="0" err="1"/>
              <a:t>partially</a:t>
            </a:r>
            <a:r>
              <a:rPr lang="de-DE" sz="1800" dirty="0"/>
              <a:t> </a:t>
            </a:r>
            <a:r>
              <a:rPr lang="de-DE" sz="1800" dirty="0" err="1"/>
              <a:t>test</a:t>
            </a:r>
            <a:r>
              <a:rPr lang="de-DE" sz="1800" dirty="0"/>
              <a:t> </a:t>
            </a:r>
            <a:r>
              <a:rPr lang="de-DE" sz="1800" dirty="0" err="1"/>
              <a:t>for</a:t>
            </a:r>
            <a:r>
              <a:rPr lang="de-DE" sz="1800" dirty="0"/>
              <a:t> such </a:t>
            </a:r>
            <a:r>
              <a:rPr lang="de-DE" sz="1800" dirty="0" err="1"/>
              <a:t>spillovers</a:t>
            </a:r>
            <a:r>
              <a:rPr lang="de-DE" sz="1800" dirty="0"/>
              <a:t>.</a:t>
            </a:r>
          </a:p>
          <a:p>
            <a:pPr lvl="2"/>
            <a:r>
              <a:rPr lang="de-DE" sz="1800" dirty="0"/>
              <a:t>A </a:t>
            </a:r>
            <a:r>
              <a:rPr lang="de-DE" sz="1800" dirty="0" err="1"/>
              <a:t>risk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that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analysis</a:t>
            </a:r>
            <a:r>
              <a:rPr lang="de-DE" sz="1800" dirty="0"/>
              <a:t> </a:t>
            </a:r>
            <a:r>
              <a:rPr lang="de-DE" sz="1800" dirty="0" err="1"/>
              <a:t>may</a:t>
            </a:r>
            <a:r>
              <a:rPr lang="de-DE" sz="1800" dirty="0"/>
              <a:t> </a:t>
            </a:r>
            <a:r>
              <a:rPr lang="de-DE" sz="1800" dirty="0" err="1"/>
              <a:t>capture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resignation</a:t>
            </a:r>
            <a:r>
              <a:rPr lang="de-DE" sz="1800" dirty="0"/>
              <a:t>/</a:t>
            </a:r>
            <a:r>
              <a:rPr lang="de-DE" sz="1800" dirty="0" err="1"/>
              <a:t>death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original </a:t>
            </a:r>
            <a:r>
              <a:rPr lang="de-DE" sz="1800" dirty="0" err="1"/>
              <a:t>member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Congress</a:t>
            </a:r>
            <a:r>
              <a:rPr lang="de-DE" sz="1800" dirty="0"/>
              <a:t> </a:t>
            </a:r>
            <a:r>
              <a:rPr lang="de-DE" sz="1800" dirty="0" err="1"/>
              <a:t>rather</a:t>
            </a:r>
            <a:r>
              <a:rPr lang="de-DE" sz="1800" dirty="0"/>
              <a:t> </a:t>
            </a:r>
            <a:r>
              <a:rPr lang="de-DE" sz="1800" dirty="0" err="1"/>
              <a:t>than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election</a:t>
            </a:r>
            <a:r>
              <a:rPr lang="de-DE" sz="1800" dirty="0"/>
              <a:t> </a:t>
            </a:r>
            <a:r>
              <a:rPr lang="de-DE" sz="1800" dirty="0" err="1"/>
              <a:t>campaign</a:t>
            </a:r>
            <a:r>
              <a:rPr lang="de-DE" sz="1800" dirty="0"/>
              <a:t> </a:t>
            </a:r>
            <a:r>
              <a:rPr lang="de-DE" sz="1800" dirty="0" err="1"/>
              <a:t>itself</a:t>
            </a:r>
            <a:r>
              <a:rPr lang="de-DE" sz="1800" dirty="0"/>
              <a:t> (</a:t>
            </a:r>
            <a:r>
              <a:rPr lang="de-DE" sz="1800" dirty="0" err="1"/>
              <a:t>co</a:t>
            </a:r>
            <a:r>
              <a:rPr lang="de-DE" sz="1800" dirty="0"/>
              <a:t>-treatment). I </a:t>
            </a:r>
            <a:r>
              <a:rPr lang="de-DE" sz="1800" dirty="0" err="1"/>
              <a:t>attempt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mitigate</a:t>
            </a:r>
            <a:r>
              <a:rPr lang="de-DE" sz="1800" dirty="0"/>
              <a:t> </a:t>
            </a:r>
            <a:r>
              <a:rPr lang="de-DE" sz="1800" dirty="0" err="1"/>
              <a:t>this</a:t>
            </a:r>
            <a:r>
              <a:rPr lang="de-DE" sz="1800" dirty="0"/>
              <a:t> </a:t>
            </a:r>
            <a:r>
              <a:rPr lang="de-DE" sz="1800" dirty="0" err="1"/>
              <a:t>problem</a:t>
            </a:r>
            <a:r>
              <a:rPr lang="de-DE" sz="1800" dirty="0"/>
              <a:t> </a:t>
            </a:r>
            <a:r>
              <a:rPr lang="de-DE" sz="1800" dirty="0" err="1"/>
              <a:t>by</a:t>
            </a:r>
            <a:r>
              <a:rPr lang="de-DE" sz="1800" dirty="0"/>
              <a:t> </a:t>
            </a:r>
            <a:r>
              <a:rPr lang="de-DE" sz="1800" dirty="0" err="1"/>
              <a:t>implementing</a:t>
            </a:r>
            <a:r>
              <a:rPr lang="de-DE" sz="1800" dirty="0"/>
              <a:t> a </a:t>
            </a:r>
            <a:r>
              <a:rPr lang="de-DE" sz="1800" dirty="0" err="1"/>
              <a:t>donut</a:t>
            </a:r>
            <a:r>
              <a:rPr lang="de-DE" sz="1800" dirty="0"/>
              <a:t> design </a:t>
            </a:r>
            <a:r>
              <a:rPr lang="de-DE" sz="1800" dirty="0" err="1"/>
              <a:t>that</a:t>
            </a:r>
            <a:r>
              <a:rPr lang="de-DE" sz="1800" dirty="0"/>
              <a:t> </a:t>
            </a:r>
            <a:r>
              <a:rPr lang="de-DE" sz="1800" dirty="0" err="1"/>
              <a:t>removes</a:t>
            </a:r>
            <a:r>
              <a:rPr lang="de-DE" sz="1800" dirty="0"/>
              <a:t> </a:t>
            </a:r>
            <a:r>
              <a:rPr lang="de-DE" sz="1800" dirty="0" err="1"/>
              <a:t>observations</a:t>
            </a:r>
            <a:r>
              <a:rPr lang="de-DE" sz="1800" dirty="0"/>
              <a:t> </a:t>
            </a:r>
            <a:r>
              <a:rPr lang="de-DE" sz="1800" dirty="0" err="1"/>
              <a:t>around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treatment</a:t>
            </a:r>
            <a:r>
              <a:rPr lang="de-DE" sz="1800" dirty="0"/>
              <a:t> date in </a:t>
            </a:r>
            <a:r>
              <a:rPr lang="de-DE" sz="1800" dirty="0" err="1"/>
              <a:t>order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avoid</a:t>
            </a:r>
            <a:r>
              <a:rPr lang="de-DE" sz="1800" dirty="0"/>
              <a:t> </a:t>
            </a:r>
            <a:r>
              <a:rPr lang="de-DE" sz="1800" dirty="0" err="1"/>
              <a:t>measuring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direct</a:t>
            </a:r>
            <a:r>
              <a:rPr lang="de-DE" sz="1800" dirty="0"/>
              <a:t> </a:t>
            </a:r>
            <a:r>
              <a:rPr lang="de-DE" sz="1800" dirty="0" err="1"/>
              <a:t>effect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death</a:t>
            </a:r>
            <a:r>
              <a:rPr lang="de-DE" sz="1800" dirty="0"/>
              <a:t>/</a:t>
            </a:r>
            <a:r>
              <a:rPr lang="de-DE" sz="1800" dirty="0" err="1"/>
              <a:t>resignation</a:t>
            </a:r>
            <a:r>
              <a:rPr lang="de-DE" sz="1800" dirty="0"/>
              <a:t>.</a:t>
            </a:r>
          </a:p>
          <a:p>
            <a:pPr lvl="1"/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38BFCE-EFA7-0D0F-8928-F9C01C032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27238-66B6-7742-B29B-4FB725E2DD9C}" type="datetime1">
              <a:rPr lang="de-DE" smtClean="0"/>
              <a:t>08.03.26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0666AD-FD08-971F-D5F1-EC832C64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8DF9-8FF6-4BA5-BC52-5FB4772E2292}" type="slidenum">
              <a:rPr lang="de-DE" smtClean="0"/>
              <a:t>5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271500F-B3BB-C9F1-52D5-995177C83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93CBD9D-056A-2FB2-C41E-E10D62F18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Design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9519883-C3DC-0C27-C01E-706FA75F473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A81091A-F5E4-3B38-9FF3-6471914F22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33B9A-CB32-EA23-EA1B-1054E5074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956DC84-ADF4-37E7-8470-3928D02E2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0000" lvl="1" indent="0">
              <a:buNone/>
            </a:pPr>
            <a:r>
              <a:rPr lang="en-US" b="1" dirty="0"/>
              <a:t>Independent Variable: </a:t>
            </a:r>
          </a:p>
          <a:p>
            <a:pPr lvl="1"/>
            <a:r>
              <a:rPr lang="en-US" dirty="0"/>
              <a:t>Vacancy time before the special election as proxy for the special election campaign.</a:t>
            </a:r>
          </a:p>
          <a:p>
            <a:pPr lvl="2"/>
            <a:r>
              <a:rPr lang="en-US" dirty="0"/>
              <a:t>Bio Guides (official data source of U.S. Congress)</a:t>
            </a:r>
          </a:p>
          <a:p>
            <a:pPr lvl="2"/>
            <a:r>
              <a:rPr lang="en-US" dirty="0"/>
              <a:t>MIT Election data </a:t>
            </a:r>
          </a:p>
          <a:p>
            <a:pPr lvl="2"/>
            <a:r>
              <a:rPr lang="en-US" dirty="0"/>
              <a:t>Extension of MIT Election data (1920 – 1974); </a:t>
            </a:r>
            <a:r>
              <a:rPr lang="de-DE" dirty="0"/>
              <a:t>Zhang, Sai. 2025. “U.S. </a:t>
            </a:r>
            <a:r>
              <a:rPr lang="de-DE" dirty="0" err="1"/>
              <a:t>Congressional</a:t>
            </a:r>
            <a:r>
              <a:rPr lang="de-DE" dirty="0"/>
              <a:t> </a:t>
            </a:r>
            <a:r>
              <a:rPr lang="de-DE" dirty="0" err="1"/>
              <a:t>Election</a:t>
            </a:r>
            <a:r>
              <a:rPr lang="de-DE" dirty="0"/>
              <a:t> </a:t>
            </a:r>
            <a:r>
              <a:rPr lang="de-DE" dirty="0" err="1"/>
              <a:t>Results</a:t>
            </a:r>
            <a:r>
              <a:rPr lang="de-DE" dirty="0"/>
              <a:t>, 1920-1974 (House and Senate).” Harvard Dataverse</a:t>
            </a:r>
            <a:endParaRPr lang="en-US" dirty="0"/>
          </a:p>
          <a:p>
            <a:pPr lvl="2"/>
            <a:r>
              <a:rPr lang="en-US" dirty="0"/>
              <a:t>Crossover data set from </a:t>
            </a:r>
            <a:r>
              <a:rPr lang="en-US" dirty="0" err="1"/>
              <a:t>unitedstates.github.io</a:t>
            </a:r>
            <a:endParaRPr lang="en-US" dirty="0"/>
          </a:p>
          <a:p>
            <a:pPr lvl="2"/>
            <a:r>
              <a:rPr lang="en-US" dirty="0"/>
              <a:t>Special Election table (Wikipedia), Several Primary Sources</a:t>
            </a:r>
          </a:p>
          <a:p>
            <a:pPr lvl="2"/>
            <a:r>
              <a:rPr lang="en-US" dirty="0"/>
              <a:t>Causes of Death (Wikipedia), Primary Source: Memorial Addresses from </a:t>
            </a:r>
            <a:r>
              <a:rPr lang="en-US" dirty="0" err="1"/>
              <a:t>HathiTrust</a:t>
            </a:r>
            <a:endParaRPr lang="en-US" dirty="0"/>
          </a:p>
          <a:p>
            <a:pPr marL="540000" lvl="2" indent="0">
              <a:buNone/>
            </a:pPr>
            <a:endParaRPr lang="en-US" dirty="0"/>
          </a:p>
          <a:p>
            <a:pPr marL="270000" lvl="1" indent="0">
              <a:buNone/>
            </a:pPr>
            <a:r>
              <a:rPr lang="en-US" b="1" dirty="0"/>
              <a:t>Dependent Variable: </a:t>
            </a:r>
          </a:p>
          <a:p>
            <a:pPr lvl="1"/>
            <a:r>
              <a:rPr lang="en-US" dirty="0"/>
              <a:t>Newspaper slant measured with an LLM tone analysis</a:t>
            </a:r>
          </a:p>
          <a:p>
            <a:pPr lvl="1"/>
            <a:r>
              <a:rPr lang="en-US" dirty="0"/>
              <a:t>Number of newspaper articles on politics</a:t>
            </a:r>
          </a:p>
          <a:p>
            <a:pPr lvl="2"/>
            <a:r>
              <a:rPr lang="en-US" dirty="0" err="1"/>
              <a:t>Proquest</a:t>
            </a:r>
            <a:r>
              <a:rPr lang="en-US" dirty="0"/>
              <a:t>, TDM Studio</a:t>
            </a:r>
          </a:p>
          <a:p>
            <a:pPr lvl="1"/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587FCA-2FE6-5D6F-C464-7DB6B267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6AEB1-D15C-8A44-A2D3-46FDDD8E8310}" type="datetime1">
              <a:rPr lang="de-DE" smtClean="0"/>
              <a:t>08.03.26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763D83-C52F-CBD6-BC43-9FCEC5EF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8DF9-8FF6-4BA5-BC52-5FB4772E2292}" type="slidenum">
              <a:rPr lang="de-DE" smtClean="0"/>
              <a:t>6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CB26D87-E921-7B46-FAE0-26E2CA383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4244A19-BE69-BBD0-8CB4-20938CB55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CF68BF7-580C-5552-7D19-513F97CA59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8401CCD-5E6C-DAA6-51C1-4A6B1CB166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76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C0E33-39CF-5B30-0A4B-3BDBD333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F07DB5E-C793-C094-4145-903961396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A21B1-7C93-0846-AA6A-9F71D57B1367}" type="datetime1">
              <a:rPr lang="de-DE" smtClean="0"/>
              <a:t>08.03.26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2892D4-11E6-58FB-A897-AE54354C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8DF9-8FF6-4BA5-BC52-5FB4772E2292}" type="slidenum">
              <a:rPr lang="de-DE" smtClean="0"/>
              <a:t>7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BAAA431-1419-C976-DE8B-73CA1E8F38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2767AEB6-95BA-777E-5D9C-FD4FE624A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Descriptive Statistics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A0B67D6-BEA6-6609-CCE2-6CF458F1F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8F1DA3B-ADB6-692C-C0AE-53FA332277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" name="Grafik 13" descr="Ein Bild, das Diagramm, Reihe, Design enthält.&#10;&#10;KI-generierte Inhalte können fehlerhaft sein.">
            <a:extLst>
              <a:ext uri="{FF2B5EF4-FFF2-40B4-BE49-F238E27FC236}">
                <a16:creationId xmlns:a16="http://schemas.microsoft.com/office/drawing/2014/main" id="{5273DBE9-12E8-08F5-5219-D81C51C71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10" y="3242952"/>
            <a:ext cx="5259965" cy="3065773"/>
          </a:xfrm>
          <a:prstGeom prst="rect">
            <a:avLst/>
          </a:prstGeom>
        </p:spPr>
      </p:pic>
      <p:pic>
        <p:nvPicPr>
          <p:cNvPr id="12" name="Grafik 11" descr="Ein Bild, das Schwein, Tierfigur, Clipart enthält.&#10;&#10;KI-generierte Inhalte können fehlerhaft sein.">
            <a:extLst>
              <a:ext uri="{FF2B5EF4-FFF2-40B4-BE49-F238E27FC236}">
                <a16:creationId xmlns:a16="http://schemas.microsoft.com/office/drawing/2014/main" id="{577D8795-CB82-C0C3-1E8A-6BCD1A69C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52"/>
          <a:stretch>
            <a:fillRect/>
          </a:stretch>
        </p:blipFill>
        <p:spPr>
          <a:xfrm>
            <a:off x="5430656" y="798724"/>
            <a:ext cx="6066019" cy="320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9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66E37-3C97-A750-C4D0-0F54CBBA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B92042E-9AD4-7E44-16B7-CB87EC65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409F5-EDB9-8745-BB35-CCC735E73D32}" type="datetime1">
              <a:rPr lang="de-DE" smtClean="0"/>
              <a:t>08.03.26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DA0DE4-F0FE-25EC-4CEE-FB21D5545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8DF9-8FF6-4BA5-BC52-5FB4772E2292}" type="slidenum">
              <a:rPr lang="de-DE" smtClean="0"/>
              <a:t>8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1153ABE-1C35-C05A-81B4-AA08DB3078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C6213FA-6949-5531-B766-DC4EEC53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Study – Number of Articles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B2C379E-F90A-D8FB-C2CD-6CFB1CA2F4F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73A847F-20DF-EF91-8788-EB84C70F06C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Grafik 11" descr="Ein Bild, das Reihe, Diagramm, Text, Schrift enthält.&#10;&#10;KI-generierte Inhalte können fehlerhaft sein.">
            <a:extLst>
              <a:ext uri="{FF2B5EF4-FFF2-40B4-BE49-F238E27FC236}">
                <a16:creationId xmlns:a16="http://schemas.microsoft.com/office/drawing/2014/main" id="{97772C12-69B1-D56A-2458-1D435E39D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160" y="1570177"/>
            <a:ext cx="8063361" cy="470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557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4C7F5-F7F3-12E2-62A4-349BB9EA7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6D6ECFF-FC35-848E-0BD2-F05CF329A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409F5-EDB9-8745-BB35-CCC735E73D32}" type="datetime1">
              <a:rPr lang="de-DE" smtClean="0"/>
              <a:t>09.03.26</a:t>
            </a:fld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FFE919-0DF2-1024-BE4D-D369B6D10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18DF9-8FF6-4BA5-BC52-5FB4772E2292}" type="slidenum">
              <a:rPr lang="de-DE" smtClean="0"/>
              <a:t>9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1ECCD24-9142-EA52-156A-8AD86B79BE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52617A1-7341-5EC3-4018-9A8A52590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Study – Tone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9BBB08E-BF8D-74F0-7ADC-D38F8F3B5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Haehn (2026), The Causal Effect of Special Elections on Media Internal Pluralism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4A1AF2C-9BA4-6243-5502-2024B99C19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Grafik 8" descr="Ein Bild, das Diagramm, Reihe, Schrift, Text enthält.&#10;&#10;KI-generierte Inhalte können fehlerhaft sein.">
            <a:extLst>
              <a:ext uri="{FF2B5EF4-FFF2-40B4-BE49-F238E27FC236}">
                <a16:creationId xmlns:a16="http://schemas.microsoft.com/office/drawing/2014/main" id="{99C09003-D9B7-8DDB-A916-41234E5B0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511" y="1655041"/>
            <a:ext cx="77724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9461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0916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Year&gt;&lt;m_yearfmt&gt;&lt;begin val=&quot;0&quot;/&gt;&lt;end val=&quot;4&quot;/&gt;&lt;/m_yearfmt&gt;&lt;/m_precDefaultYear&gt;&lt;m_precDefaultQuarter&gt;&lt;m_bNumberIsYear val=&quot;0&quot;/&gt;&lt;m_strFormatTime&gt;Q%5&lt;/m_strFormatTime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bNumberIsYear val=&quot;0&quot;/&gt;&lt;m_strFormatTime&gt;%4&lt;/m_strFormatTime&gt;&lt;m_yearfmt&gt;&lt;begin val=&quot;0&quot;/&gt;&lt;end val=&quot;4&quot;/&gt;&lt;/m_yearfmt&gt;&lt;/m_precDefaultWeek&gt;&lt;m_precDefaultDay&gt;&lt;m_bNumberIsYear val=&quot;0&quot;/&gt;&lt;m_strFormatTime&gt;%#d&lt;/m_strFormatTime&gt;&lt;m_yearfmt&gt;&lt;begin val=&quot;0&quot;/&gt;&lt;end val=&quot;4&quot;/&gt;&lt;/m_yearfmt&gt;&lt;/m_precDefaultDay&gt;&lt;m_mruColor&gt;&lt;m_vecMRU length=&quot;0&quot;/&gt;&lt;/m_mruColor&gt;&lt;/CPresentation&gt;&lt;/root&gt;"/>
  <p:tag name="EASYMASTER" val="PD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_HVZ.b_VGeFY2a2R9__d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U5NMgfvSYaFf2.30VHx2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u4_u4LjADbpAxsyu9rC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u4_u4LjADbpAxsyu9rC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u4_u4LjADbpAxsyu9rC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u4_u4LjADbpAxsyu9rC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u4_u4LjADbpAxsyu9rC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u4_u4LjADbpAxsyu9rCQ"/>
</p:tagLst>
</file>

<file path=ppt/theme/theme1.xml><?xml version="1.0" encoding="utf-8"?>
<a:theme xmlns:a="http://schemas.openxmlformats.org/drawingml/2006/main" name="PD-Template">
  <a:themeElements>
    <a:clrScheme name="Niklas_PhD">
      <a:dk1>
        <a:srgbClr val="182B48"/>
      </a:dk1>
      <a:lt1>
        <a:srgbClr val="FFCC00"/>
      </a:lt1>
      <a:dk2>
        <a:srgbClr val="182B48"/>
      </a:dk2>
      <a:lt2>
        <a:srgbClr val="FEFFFF"/>
      </a:lt2>
      <a:accent1>
        <a:srgbClr val="00629B"/>
      </a:accent1>
      <a:accent2>
        <a:srgbClr val="FFCC00"/>
      </a:accent2>
      <a:accent3>
        <a:srgbClr val="182B48"/>
      </a:accent3>
      <a:accent4>
        <a:srgbClr val="C59114"/>
      </a:accent4>
      <a:accent5>
        <a:srgbClr val="747578"/>
      </a:accent5>
      <a:accent6>
        <a:srgbClr val="FFCC00"/>
      </a:accent6>
      <a:hlink>
        <a:srgbClr val="00629B"/>
      </a:hlink>
      <a:folHlink>
        <a:srgbClr val="74757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tx2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-Folienmaster" id="{B9037DD4-7789-1040-BE3C-3A25FA4B38E3}" vid="{E5236F2F-931C-0744-A2D0-FA98855C461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PD-Template</Template>
  <TotalTime>0</TotalTime>
  <Words>884</Words>
  <Application>Microsoft Macintosh PowerPoint</Application>
  <PresentationFormat>Breitbild</PresentationFormat>
  <Paragraphs>94</Paragraphs>
  <Slides>9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8" baseType="lpstr">
      <vt:lpstr>Arial</vt:lpstr>
      <vt:lpstr>Calibri</vt:lpstr>
      <vt:lpstr>Source Sans 3 Regular</vt:lpstr>
      <vt:lpstr>Source Sans 3 SemiBold</vt:lpstr>
      <vt:lpstr>Symbol</vt:lpstr>
      <vt:lpstr>Teko</vt:lpstr>
      <vt:lpstr>Teko SemiBold</vt:lpstr>
      <vt:lpstr>PD-Template</vt:lpstr>
      <vt:lpstr>think-cell Folie</vt:lpstr>
      <vt:lpstr>The Causal Effect of Special Elections on Media Internal Pluralism: A Historical Investigation </vt:lpstr>
      <vt:lpstr>Motivation</vt:lpstr>
      <vt:lpstr>Research Question and Hypotheses</vt:lpstr>
      <vt:lpstr>Literature and Mechanism</vt:lpstr>
      <vt:lpstr>Research Design</vt:lpstr>
      <vt:lpstr>Data</vt:lpstr>
      <vt:lpstr>Descriptive Statistics</vt:lpstr>
      <vt:lpstr>Event Study – Number of Articles</vt:lpstr>
      <vt:lpstr>Event Study – Tone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Haehn, Niklas</dc:creator>
  <cp:lastModifiedBy>Haehn, Niklas</cp:lastModifiedBy>
  <cp:revision>20</cp:revision>
  <dcterms:created xsi:type="dcterms:W3CDTF">2026-03-07T21:21:53Z</dcterms:created>
  <dcterms:modified xsi:type="dcterms:W3CDTF">2026-03-09T13:55:24Z</dcterms:modified>
</cp:coreProperties>
</file>